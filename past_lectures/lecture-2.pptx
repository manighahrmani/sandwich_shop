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8572500" cx="5715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00">
          <p15:clr>
            <a:srgbClr val="A4A3A4"/>
          </p15:clr>
        </p15:guide>
        <p15:guide id="2" pos="340">
          <p15:clr>
            <a:srgbClr val="A4A3A4"/>
          </p15:clr>
        </p15:guide>
        <p15:guide id="3" pos="22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00" orient="horz"/>
        <p:guide pos="340"/>
        <p:guide pos="2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5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Mon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6b21d61a4_1_237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6b21d61a4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922a615a_1_5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922a615a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a922a615a_1_55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a922a615a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b71da5ba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bb71da5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ba8f7da0b_1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ba8f7da0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5f7524da5d_0_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5f7524da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a6b21d61a4_1_51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a6b21d61a4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a922a615a_1_11:notes"/>
          <p:cNvSpPr/>
          <p:nvPr>
            <p:ph idx="2" type="sldImg"/>
          </p:nvPr>
        </p:nvSpPr>
        <p:spPr>
          <a:xfrm>
            <a:off x="2286300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a922a615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a922a615a_1_4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a922a615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ba8f7da0b_1_18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ba8f7da0b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8e5763648_0_0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8e57636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a8f7da0b_1_9:notes"/>
          <p:cNvSpPr/>
          <p:nvPr>
            <p:ph idx="2" type="sldImg"/>
          </p:nvPr>
        </p:nvSpPr>
        <p:spPr>
          <a:xfrm>
            <a:off x="2286323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a8f7da0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65938" y="2055292"/>
            <a:ext cx="2528100" cy="24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65938" y="4671792"/>
            <a:ext cx="2528100" cy="20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194818" y="1240958"/>
            <a:ext cx="5325300" cy="34209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194813" y="4723542"/>
            <a:ext cx="5325300" cy="1320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94813" y="3584750"/>
            <a:ext cx="5325300" cy="1403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194813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3020250" y="1920792"/>
            <a:ext cx="2499900" cy="56940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194813" y="926000"/>
            <a:ext cx="1755000" cy="1259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rtl="0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194813" y="2316000"/>
            <a:ext cx="1755000" cy="52989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5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5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5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500"/>
              </a:spcBef>
              <a:spcAft>
                <a:spcPts val="15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306406" y="750250"/>
            <a:ext cx="3979800" cy="6818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1pPr>
            <a:lvl2pPr lvl="1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rtl="0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2857500" y="-208"/>
            <a:ext cx="2857500" cy="857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165938" y="2055292"/>
            <a:ext cx="2528400" cy="24705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165938" y="4671792"/>
            <a:ext cx="2528400" cy="2058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3087188" y="1206792"/>
            <a:ext cx="2398200" cy="61584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194813" y="7050958"/>
            <a:ext cx="3749400" cy="10086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194813" y="1843542"/>
            <a:ext cx="5325300" cy="3272400"/>
          </a:xfrm>
          <a:prstGeom prst="rect">
            <a:avLst/>
          </a:prstGeom>
        </p:spPr>
        <p:txBody>
          <a:bodyPr anchorCtr="0" anchor="b" bIns="88875" lIns="88875" spcFirstLastPara="1" rIns="88875" wrap="square" tIns="88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1700"/>
              <a:buNone/>
              <a:defRPr sz="117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194813" y="5253708"/>
            <a:ext cx="5325300" cy="21681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5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5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5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500"/>
              </a:spcBef>
              <a:spcAft>
                <a:spcPts val="15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94813" y="1920792"/>
            <a:ext cx="53253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5295286" y="7772028"/>
            <a:ext cx="34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learngitbranching.js.org" TargetMode="External"/><Relationship Id="rId4" Type="http://schemas.openxmlformats.org/officeDocument/2006/relationships/hyperlink" Target="https://code.visualstudio.com/docs/sourcecontrol/merge-conflicts" TargetMode="External"/><Relationship Id="rId5" Type="http://schemas.openxmlformats.org/officeDocument/2006/relationships/hyperlink" Target="https://youtube.com/playlist?list=PLjxrf2q8roU23XGwz3Km7sQZFTdB996i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flutter.dev/learn/pathway/tutorial/widget-fundamental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flutter.dev/learn/pathway/tutorial/layout" TargetMode="External"/><Relationship Id="rId4" Type="http://schemas.openxmlformats.org/officeDocument/2006/relationships/hyperlink" Target="https://youtube.com/playlist?list=PLjxrf2q8roU23XGwz3Km7sQZFTdB996iG&amp;si=Y_Q70zf_feTc0Kq0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wE7khGHVkYY" TargetMode="External"/><Relationship Id="rId4" Type="http://schemas.openxmlformats.org/officeDocument/2006/relationships/hyperlink" Target="https://docs.flutter.dev/flutter-for/declarativ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flutter.dev/data-and-backend/state-mgmt/ephemeral-vs-app" TargetMode="External"/><Relationship Id="rId4" Type="http://schemas.openxmlformats.org/officeDocument/2006/relationships/hyperlink" Target="https://www.youtube.com/watch?v=Gzz8FwSlsU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pi.flutter.dev/flutter/widgets/StatelessWidget-class.html" TargetMode="External"/><Relationship Id="rId4" Type="http://schemas.openxmlformats.org/officeDocument/2006/relationships/hyperlink" Target="https://api.flutter.dev/flutter/widgets/StatefulWidget-class.html" TargetMode="External"/><Relationship Id="rId5" Type="http://schemas.openxmlformats.org/officeDocument/2006/relationships/hyperlink" Target="https://docs.flutter.dev/ui/interactivity" TargetMode="External"/><Relationship Id="rId6" Type="http://schemas.openxmlformats.org/officeDocument/2006/relationships/hyperlink" Target="https://docs.flutter.dev/learn/pathway/tutorial/stateful-widge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forms.cloud.microsoft/e/88jd4UGAui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4294967295" type="title"/>
          </p:nvPr>
        </p:nvSpPr>
        <p:spPr>
          <a:xfrm>
            <a:off x="2501850" y="2857378"/>
            <a:ext cx="3213300" cy="2857500"/>
          </a:xfrm>
          <a:prstGeom prst="rect">
            <a:avLst/>
          </a:prstGeom>
          <a:solidFill>
            <a:srgbClr val="F59E0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Declarative UI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00" name="Google Shape;100;p25"/>
          <p:cNvSpPr txBox="1"/>
          <p:nvPr>
            <p:ph type="ctrTitle"/>
          </p:nvPr>
        </p:nvSpPr>
        <p:spPr>
          <a:xfrm>
            <a:off x="99825" y="0"/>
            <a:ext cx="2321100" cy="4311000"/>
          </a:xfrm>
          <a:prstGeom prst="rect">
            <a:avLst/>
          </a:prstGeom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/>
              <a:t>PAPL (M30235) UXDI (M32605)</a:t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Lecture 2</a:t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Widgets</a:t>
            </a:r>
            <a:endParaRPr sz="2300"/>
          </a:p>
        </p:txBody>
      </p:sp>
      <p:sp>
        <p:nvSpPr>
          <p:cNvPr id="101" name="Google Shape;101;p25"/>
          <p:cNvSpPr txBox="1"/>
          <p:nvPr>
            <p:ph idx="4294967295" type="title"/>
          </p:nvPr>
        </p:nvSpPr>
        <p:spPr>
          <a:xfrm>
            <a:off x="2501850" y="-123"/>
            <a:ext cx="3213300" cy="2857500"/>
          </a:xfrm>
          <a:prstGeom prst="rect">
            <a:avLst/>
          </a:prstGeom>
          <a:solidFill>
            <a:srgbClr val="1E3A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</a:rPr>
              <a:t>Everything is a widget</a:t>
            </a:r>
            <a:endParaRPr b="1" sz="2000">
              <a:solidFill>
                <a:srgbClr val="FFFFFF"/>
              </a:solidFill>
            </a:endParaRPr>
          </a:p>
        </p:txBody>
      </p:sp>
      <p:sp>
        <p:nvSpPr>
          <p:cNvPr id="102" name="Google Shape;102;p25"/>
          <p:cNvSpPr txBox="1"/>
          <p:nvPr>
            <p:ph idx="4294967295" type="title"/>
          </p:nvPr>
        </p:nvSpPr>
        <p:spPr>
          <a:xfrm>
            <a:off x="2501850" y="5714878"/>
            <a:ext cx="3213300" cy="28575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Stateless vs stateful</a:t>
            </a:r>
            <a:endParaRPr b="1" sz="2000"/>
          </a:p>
        </p:txBody>
      </p:sp>
      <p:pic>
        <p:nvPicPr>
          <p:cNvPr id="103" name="Google Shape;1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05" y="6764586"/>
            <a:ext cx="680140" cy="758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1E3A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Everything is a widget</a:t>
            </a:r>
            <a:endParaRPr b="1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3A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Everything is a widget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14" name="Google Shape;114;p27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Tech</a:t>
            </a:r>
            <a:r>
              <a:rPr lang="en-GB" sz="2800"/>
              <a:t> News?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15" name="Google Shape;115;p27"/>
          <p:cNvSpPr txBox="1"/>
          <p:nvPr/>
        </p:nvSpPr>
        <p:spPr>
          <a:xfrm>
            <a:off x="540000" y="1440000"/>
            <a:ext cx="5175000" cy="55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 still need tech news from you!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Here is some stuff: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Git branches, visually and interactively: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learngitbranching.js.org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Resolving merge conflicts in VS Code: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code.visualstudio.com/docs/sourcecontrol/merge-conflicts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Widget of the Week: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youtube.com/playlist?list=PLjxrf2q8roU23XGwz3Km7sQZFTdB996iG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3A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Everything is a widget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Everything is a widget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2" name="Google Shape;122;p28"/>
          <p:cNvSpPr txBox="1"/>
          <p:nvPr/>
        </p:nvSpPr>
        <p:spPr>
          <a:xfrm>
            <a:off x="540000" y="1440000"/>
            <a:ext cx="5175000" cy="3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Text, buttons, padding, layout, the whole screen: all widgets.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build screens by composing small widgets, not by editing one big file.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The UI is a tree of widgets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Widget fundamentals tutorial: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Create widgets</a:t>
            </a:r>
            <a:r>
              <a:rPr lang="en-GB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Let's</a:t>
            </a:r>
            <a:r>
              <a:rPr lang="en-GB" sz="1700">
                <a:solidFill>
                  <a:schemeClr val="dk1"/>
                </a:solidFill>
              </a:rPr>
              <a:t> do its quiz to test ourselves.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1E3A8A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Everything is a widget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28" name="Google Shape;128;p29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Composition </a:t>
            </a:r>
            <a:r>
              <a:rPr lang="en-GB" sz="2800"/>
              <a:t>and layout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29" name="Google Shape;129;p29"/>
          <p:cNvSpPr txBox="1"/>
          <p:nvPr/>
        </p:nvSpPr>
        <p:spPr>
          <a:xfrm>
            <a:off x="540000" y="1440000"/>
            <a:ext cx="5175000" cy="55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Small widgets combine into bigger ones (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Column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Row</a:t>
            </a:r>
            <a:r>
              <a:rPr lang="en-GB" sz="1700">
                <a:solidFill>
                  <a:schemeClr val="dk1"/>
                </a:solidFill>
              </a:rPr>
              <a:t>,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Container</a:t>
            </a:r>
            <a:r>
              <a:rPr lang="en-GB" sz="1700">
                <a:solidFill>
                  <a:schemeClr val="dk1"/>
                </a:solidFill>
              </a:rPr>
              <a:t>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Reuse your own widgets; they take parameters too, like a function.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Layout: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docs.flutter.dev/learn/pathway/tutorial/layout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Let’s try its quiz too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Widget of the Week: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youtube.com/playlist?list=PLjxrf2q8roU23XGwz3Km7sQZFTdB996iG&amp;si=Y_Q70zf_feTc0Kq0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F59E0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Declarative UI</a:t>
            </a:r>
            <a:endParaRPr b="1" sz="2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F59E0B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>
                <a:solidFill>
                  <a:schemeClr val="lt1"/>
                </a:solidFill>
              </a:rPr>
              <a:t>Declarative UI</a:t>
            </a:r>
            <a:endParaRPr b="1" sz="2200">
              <a:solidFill>
                <a:srgbClr val="FFFFFF"/>
              </a:solidFill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Declarative UI</a:t>
            </a:r>
            <a:endParaRPr sz="2800"/>
          </a:p>
        </p:txBody>
      </p:sp>
      <p:sp>
        <p:nvSpPr>
          <p:cNvPr id="141" name="Google Shape;141;p31"/>
          <p:cNvSpPr txBox="1"/>
          <p:nvPr/>
        </p:nvSpPr>
        <p:spPr>
          <a:xfrm>
            <a:off x="540000" y="1440000"/>
            <a:ext cx="5175000" cy="71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Here’s an introductory video on stateless widgets: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youtube.com/watch?v=wE7khGHVkYY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(Watch the video on your own; I want to watch the stateful widget video shortly.)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 imperative programming (e.g., Java’s UI libraries), you need to call configuration methods of the UI instance to update it.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 declarative programming (e.g., Flutter), we describe what the UI should look like for the current data, and the widget will rebuild.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do not manually mutate the screen; you change the data and rebuild.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Here is a solid explanation: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docs.flutter.dev/flutter-for/declarative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2"/>
          <p:cNvSpPr txBox="1"/>
          <p:nvPr>
            <p:ph idx="4294967295" type="title"/>
          </p:nvPr>
        </p:nvSpPr>
        <p:spPr>
          <a:xfrm>
            <a:off x="0" y="0"/>
            <a:ext cx="5715000" cy="8572500"/>
          </a:xfrm>
          <a:prstGeom prst="rect">
            <a:avLst/>
          </a:prstGeom>
          <a:solidFill>
            <a:srgbClr val="E0F2F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Stateless vs stateful</a:t>
            </a:r>
            <a:endParaRPr b="1" sz="2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540000" y="1440000"/>
            <a:ext cx="51750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Stateless: fixed once built (a snapshot).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Stateful: holds data that changes over time and rebuilds itself.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Ephemeral state now; app-wide state later.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For more info, see: </a:t>
            </a:r>
            <a:r>
              <a:rPr lang="en-GB" sz="1700" u="sng">
                <a:solidFill>
                  <a:schemeClr val="hlink"/>
                </a:solidFill>
                <a:hlinkClick r:id="rId3"/>
              </a:rPr>
              <a:t>docs.flutter.dev/data-and-backend/state-mgmt/ephemeral-vs-app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For now, let’s watch this video together as a family: </a:t>
            </a:r>
            <a:r>
              <a:rPr lang="en-GB" sz="1700" u="sng">
                <a:solidFill>
                  <a:schemeClr val="hlink"/>
                </a:solidFill>
                <a:hlinkClick r:id="rId4"/>
              </a:rPr>
              <a:t>youtube.com/watch?v=Gzz8FwSlsUg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2" name="Google Shape;152;p33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E0F2F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Stateless vs stateful</a:t>
            </a:r>
            <a:endParaRPr b="1" sz="2200"/>
          </a:p>
        </p:txBody>
      </p:sp>
      <p:sp>
        <p:nvSpPr>
          <p:cNvPr id="153" name="Google Shape;153;p33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Stateless vs stateful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/>
          <p:nvPr/>
        </p:nvSpPr>
        <p:spPr>
          <a:xfrm>
            <a:off x="540000" y="1440000"/>
            <a:ext cx="5175000" cy="6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StatelessWidget: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 u="sng">
                <a:solidFill>
                  <a:schemeClr val="hlink"/>
                </a:solidFill>
                <a:hlinkClick r:id="rId3"/>
              </a:rPr>
              <a:t>StatelessWidget class - widgets library - Dart API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StatefulWidget: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 u="sng">
                <a:solidFill>
                  <a:schemeClr val="hlink"/>
                </a:solidFill>
                <a:hlinkClick r:id="rId4"/>
              </a:rPr>
              <a:t>StatefulWidget class - widgets library - Dart API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Change the data inside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setState</a:t>
            </a:r>
            <a:r>
              <a:rPr lang="en-GB" sz="1700">
                <a:solidFill>
                  <a:schemeClr val="dk1"/>
                </a:solidFill>
              </a:rPr>
              <a:t>, and Flutter rebuilds.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Change it without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setState</a:t>
            </a:r>
            <a:r>
              <a:rPr lang="en-GB" sz="1700">
                <a:solidFill>
                  <a:schemeClr val="dk1"/>
                </a:solidFill>
              </a:rPr>
              <a:t>, and the screen does not update.</a:t>
            </a:r>
            <a:endParaRPr sz="17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More info on this tutorial page on adding interactivity. </a:t>
            </a:r>
            <a:r>
              <a:rPr lang="en-GB" sz="1700" u="sng">
                <a:solidFill>
                  <a:schemeClr val="hlink"/>
                </a:solidFill>
                <a:hlinkClick r:id="rId5"/>
              </a:rPr>
              <a:t>docs.flutter.dev/ui/interactivity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Also, let’s do the questions here: </a:t>
            </a:r>
            <a:r>
              <a:rPr lang="en-GB" sz="1700" u="sng">
                <a:solidFill>
                  <a:schemeClr val="hlink"/>
                </a:solidFill>
                <a:hlinkClick r:id="rId6"/>
              </a:rPr>
              <a:t>docs.flutter.dev/learn/pathway/tutorial/stateful-widget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9" name="Google Shape;159;p34"/>
          <p:cNvSpPr txBox="1"/>
          <p:nvPr>
            <p:ph type="title"/>
          </p:nvPr>
        </p:nvSpPr>
        <p:spPr>
          <a:xfrm rot="-5400000">
            <a:off x="-4098750" y="4098525"/>
            <a:ext cx="8568600" cy="371100"/>
          </a:xfrm>
          <a:prstGeom prst="rect">
            <a:avLst/>
          </a:prstGeom>
          <a:solidFill>
            <a:srgbClr val="E0F2FE"/>
          </a:solidFill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Stateless vs stateful</a:t>
            </a:r>
            <a:endParaRPr b="1" sz="2200"/>
          </a:p>
        </p:txBody>
      </p:sp>
      <p:sp>
        <p:nvSpPr>
          <p:cNvPr id="160" name="Google Shape;160;p34"/>
          <p:cNvSpPr txBox="1"/>
          <p:nvPr/>
        </p:nvSpPr>
        <p:spPr>
          <a:xfrm>
            <a:off x="540000" y="360000"/>
            <a:ext cx="49803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/>
              <a:t>Stateless vs stateful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Demo 1</a:t>
            </a:r>
            <a:endParaRPr/>
          </a:p>
        </p:txBody>
      </p:sp>
      <p:sp>
        <p:nvSpPr>
          <p:cNvPr id="166" name="Google Shape;166;p35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Union of Worksheet 1 and Worksheet 2 exercises: a movie listing page.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Complete by the week ending with Friday, 2 October 2026.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Demo in your own timetabled practical (you will not get marks if you attend a different session).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Marked on functionality, quality, and understanding of your own code.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 will ask two questions about your code, chosen at random, during the demo. 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You will find these questions easy if you’ve done the coding yourself.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6"/>
          <p:cNvSpPr txBox="1"/>
          <p:nvPr>
            <p:ph type="title"/>
          </p:nvPr>
        </p:nvSpPr>
        <p:spPr>
          <a:xfrm>
            <a:off x="194813" y="741708"/>
            <a:ext cx="5325300" cy="954600"/>
          </a:xfrm>
          <a:prstGeom prst="rect">
            <a:avLst/>
          </a:prstGeom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/>
              <a:t>Module feedback</a:t>
            </a:r>
            <a:endParaRPr/>
          </a:p>
        </p:txBody>
      </p:sp>
      <p:sp>
        <p:nvSpPr>
          <p:cNvPr id="172" name="Google Shape;172;p36"/>
          <p:cNvSpPr txBox="1"/>
          <p:nvPr>
            <p:ph idx="1" type="body"/>
          </p:nvPr>
        </p:nvSpPr>
        <p:spPr>
          <a:xfrm>
            <a:off x="194825" y="1920800"/>
            <a:ext cx="5435400" cy="5694000"/>
          </a:xfrm>
          <a:prstGeom prst="rect">
            <a:avLst/>
          </a:prstGeom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-33655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Give us your feedback, comments, criticisms, or insults by filling out the following form.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It’s anonymous; you need to sign in via your student account, but your details aren’t recorded.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Use this link or the QR code: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forms.cloud.microsoft/e/88jd4UGAui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50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36" title="QRCode for Flutter Module Feedback For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638" y="4635875"/>
            <a:ext cx="3297776" cy="329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FF5733"/>
      </a:accent3>
      <a:accent4>
        <a:srgbClr val="34D1BF"/>
      </a:accent4>
      <a:accent5>
        <a:srgbClr val="F9E79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
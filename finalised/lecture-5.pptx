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10"/>
    <p:sldId id="268" r:id="rId9"/>
    <p:sldId id="269" r:id="rId8"/>
    <p:sldId id="270" r:id="rId7"/>
  </p:sldIdLst>
  <p:sldSz cy="8572500" cx="5715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font" Target="fonts/RobotoMono-regular.fntdata"/><Relationship Id="rId23" Type="http://schemas.openxmlformats.org/officeDocument/2006/relationships/font" Target="fonts/RobotoMono-bold.fntdata"/><Relationship Id="rId24" Type="http://schemas.openxmlformats.org/officeDocument/2006/relationships/font" Target="fonts/RobotoMono-italic.fntdata"/><Relationship Id="rId25" Type="http://schemas.openxmlformats.org/officeDocument/2006/relationships/font" Target="fonts/Roboto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s://flutter.dev/blog/whats-new-in-flutter-3-44" TargetMode="External"/><Relationship Id="rId3" Type="http://schemas.openxmlformats.org/officeDocument/2006/relationships/hyperlink" Target="https://dart.dev/blog/announcing-dart-3-1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s://docs.flutter.dev/ui/navigati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s://docs.flutter.dev/app-architecture/guid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s://docs.flutter.dev/data-and-backend/state-mgmt/intro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s://docs.flutter.dev/learn/pathway/tutorial/user-inpu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hyperlink" Target="https://forms.cloud.microsoft/e/88jd4UGAui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5EBE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Navigation</a:t>
            </a:r>
            <a:endParaRPr b="1" sz="2000"/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
Lecture 5
Navigation, State and Forms</a:t>
            </a:r>
            <a:endParaRPr b="1"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Shared state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Forms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Google Shape;113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News?</a:t>
            </a:r>
            <a:endParaRPr sz="2800"/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1440000"/>
            <a:ext cx="5175000" cy="7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</a:rPr>
              <a:t>I need tech news from you! I will provide some of my own.</a:t>
            </a:r>
            <a:r>
              <a:rPr lang="en-GB" sz="1600">
                <a:solidFill>
                  <a:schemeClr val="dk1"/>
                </a:solidFill>
              </a:rP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  <a:hlinkClick r:id="rId2"/>
              </a:rPr>
              <a:t>Flutter 3.44: experimental Widget Previews and improvements to DevTools.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  <a:hlinkClick r:id="rId3"/>
              </a:rPr>
              <a:t>Dart 3.12: new language and tooling updates.</a:t>
            </a:r>
            <a:endParaRPr sz="1600">
              <a:solidFill>
                <a:schemeClr val="dk1"/>
              </a:solidFill>
            </a:endParaRPr>
          </a:p>
          <a:p>
            <a:pPr indent="-33020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</a:rPr>
              <a:t>Which new tools would make building and checking interfaces easier?</a:t>
            </a:r>
            <a:r>
              <a:rPr lang="en-GB" sz="1600">
                <a:solidFill>
                  <a:schemeClr val="dk1"/>
                </a:solidFill>
              </a:rP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5" name="Google Shape;115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Navigation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Navigation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Navigation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Moving between screens</a:t>
            </a:r>
            <a:r>
              <a:rPr lang="en-GB" sz="2800"/>
              <a:t/>
            </a:r>
            <a:r>
              <a:rPr lang="en-GB" sz="2800"/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Flutter's Navigator manages a stack of routes.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Navigator.push adds a route; Navigator.pop returns to the previous one.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>This works well for a detail screen that should have a back button.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hlinkClick r:id="rId2"/>
              </a:rPr>
              <a:t>See Flutter's navigation and routing guide.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Navigation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Top-level sections</a:t>
            </a:r>
            <a:r>
              <a:rPr lang="en-GB" sz="2800"/>
              <a:t/>
            </a:r>
            <a:r>
              <a:rPr lang="en-GB" sz="2800"/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drawer gives the app consistent links to its main sections.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Add a Drawer to a Scaffold; Flutter supplies the menu button.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>Register named routes in MaterialApp to connect route names to screens.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Navigator.pushReplacementNamed changes the current top-level screen without stacking another copy.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Shared state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Shared state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Local state and shared data</a:t>
            </a:r>
            <a:r>
              <a:rPr lang="en-GB" sz="2800"/>
              <a:t/>
            </a:r>
            <a:r>
              <a:rPr lang="en-GB" sz="2800"/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quantity on the order screen is local state; setState rebuilds that screen when it changes.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Basket items must remain available when you leave the order screen.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>Keep shared basket data outside an individual screen so each screen can read the same source.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hlinkClick r:id="rId2"/>
              </a:rPr>
              <a:t>The Flutter app architecture guide explains how repositories separate data work from the interface.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Shared state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One repository instance</a:t>
            </a:r>
            <a:r>
              <a:rPr lang="en-GB" sz="2800"/>
              <a:t/>
            </a:r>
            <a:r>
              <a:rPr lang="en-GB" sz="2800"/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CartRepository owns the basket operations and data.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private constructor and static final instance make one shared CartRepository.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>Order and basket screens use CartRepository.instance to add, read or remove items.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Return an unmodifiable list so screens cannot change the repository's data directly.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Shared state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Data changes and rebuilds</a:t>
            </a:r>
            <a:r>
              <a:rPr lang="en-GB" sz="2800"/>
              <a:t/>
            </a:r>
            <a:r>
              <a:rPr lang="en-GB" sz="2800"/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singleton shares data; it does not automatically rebuild every screen.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After changing the basket, the visible screen calls setState so Flutter builds it again from the repository.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>
                <a:hlinkClick r:id="rId2"/>
              </a:rPr>
              <a:t>The state management overview compares broader approaches; this worksheet uses a plain Dart singleton.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Forms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Forms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Collecting input</a:t>
            </a:r>
            <a:r>
              <a:rPr lang="en-GB" sz="2800"/>
              <a:t/>
            </a:r>
            <a:r>
              <a:rPr lang="en-GB" sz="2800"/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TextField collects text; a TextEditingController lets the screen read its current value.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Create controllers in initState and release them in dispose.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>A Switch reports its new boolean value to onChanged; use setState to update the screen.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hlinkClick r:id="rId2"/>
              </a:rPr>
              <a:t>Explore the Flutter user input pathway for more detail.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Forms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Saving settings</a:t>
            </a:r>
            <a:r>
              <a:rPr lang="en-GB" sz="2800"/>
              <a:t/>
            </a:r>
            <a:r>
              <a:rPr lang="en-GB" sz="2800"/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save handler reads the controllers and switch, then creates a UserSettings object.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Keep settings immutable with final fields; use copyWith to create an updated object.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>Saving the object is separate from storing it between app launches, which comes later.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Wrap a long form in SingleChildScrollView so its fields remain reachable when the keyboard is open.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7" name="Google Shape;187;p3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3</a:t>
            </a:r>
            <a:endParaRPr/>
          </a:p>
        </p:txBody>
      </p:sp>
      <p:sp>
        <p:nvSpPr>
          <p:cNvPr id="188" name="Google Shape;188;p38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 3 assesses the Worksheet 5 and Worksheet 6 exercises.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3" name="Google Shape;193;p39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94" name="Google Shape;194;p39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 is anonymous; you need to sign in with your student account, but your details are not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hlinkClick r:id="rId3"/>
              </a:rPr>
              <a:t>Use this link or the QR code: forms.cloud.microsoft/e/88jd4UGAui</a:t>
            </a:r>
            <a:r>
              <a:rPr lang="en-GB" u="sng">
                <a:solidFill>
                  <a:schemeClr val="hlink"/>
                </a:solidFill>
              </a:rPr>
              <a:t/>
            </a:r>
            <a:endParaRPr/>
          </a:p>
        </p:txBody>
      </p:sp>
      <p:pic>
        <p:nvPicPr>
          <p:cNvPr id="195" name="Google Shape;195;p39" title="QRCode for Flutter Module Feedback For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1" name="Google Shape;181;p3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Live demo</a:t>
            </a:r>
            <a:endParaRPr/>
          </a:p>
        </p:txBody>
      </p:sp>
      <p:sp>
        <p:nvSpPr>
          <p:cNvPr id="182" name="Google Shape;182;p37"/>
          <p:cNvSpPr txBox="1"/>
          <p:nvPr>
            <p:ph idx="1" type="body"/>
          </p:nvPr>
        </p:nvSpPr>
        <p:spPr>
          <a:xfrm>
            <a:off x="194825" y="1920800"/>
            <a:ext cx="5435400" cy="66516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rmAutofit lnSpcReduction="20000"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Follow one order from the order screen into the basket.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Identify the shared repository and the setState calls that refresh each screen.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
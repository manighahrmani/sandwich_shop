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8572500" cx="5715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2fb93517cc1ef1a8_1_1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2fb93517cc1ef1a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3c6607f17795faeb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3c6607f17795fa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2fb93517cc1ef1a8_1_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2fb93517cc1ef1a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2fb93517cc1ef1a8_1_8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2fb93517cc1ef1a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2fb93517cc1ef1a8_1_9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2fb93517cc1ef1a8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2fb93517cc1ef1a8_1_7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2fb93517cc1ef1a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e5763648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e5763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 new repository on GitHub.</a:t>
            </a:r>
            <a:br>
              <a:rPr lang="en-GB"/>
            </a:br>
            <a:br>
              <a:rPr lang="en-GB"/>
            </a:br>
            <a:r>
              <a:rPr lang="en-GB"/>
              <a:t>In VS Code, press `Ctrl+Shift+P` (or `Cmd+Shift+P` on macOS), select `Git: Clone`, paste the repository URL, and open the cloned folder.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Explorer, create a file named `greeting.txt` with the initial 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Source Control (`Ctrl+Shift+G`), stage the file with `+`, enter `docs: add greeting`, click `Commit`, and then click `Sync Changes` (or `Publish Branch`).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/>
              <a:t>In Terminal you can do the same thing as above with: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clone https://github.com/&lt;your-username&gt;/&lt;name-of-your-repository&gt;.git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 </a:t>
            </a:r>
            <a:r>
              <a:rPr lang="en-GB">
                <a:solidFill>
                  <a:schemeClr val="dk1"/>
                </a:solidFill>
              </a:rPr>
              <a:t>&lt;name-of-your-repository&gt;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echo "line 1: hello" &gt;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"docs: add greeting"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origin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the current branch name (`main`) in the bottom-left status bar, select `Create new branch...`, and name it `experiment`.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`greeting.txt`, update the text, then in Source Control stage the change, enter `feat: update greeting on experiment`, click `Commit`, and click `Publish Branch`.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how you can do the same thing in Terminal: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checkout -b experiment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echo "line 1: hello from experiment" &gt;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"feat: update greeting on experiment"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-u origin experiment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the branch name in the status bar at the bottom-left and switch back to `main`.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`greeting.txt`, change line 1 to a different message, then stage and commit this change in Source Control and click `Sync Changes` to push to GitHub.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the command for the same thing as above: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checkout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echo "line 1: hello from main" &gt;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"feat: update greeting on main"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origin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GitHub, open a pull request from `experiment` into `main`.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GitHub will warn that the branch has conflicts that must be resolved.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resolve it locally in VS Code, open the built-in terminal (`Ctrl+\`` or ``Cmd+\```) while on `main` and run the merge command.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merge experiment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`greeting.txt` in VS Code. VS Code automatically highlights the conflict and provides clickable CodeLens actions above the conflict region: `Accept Current Change` keeps the version from `main`, `Accept Incoming Change` uses the version from `experiment`, `Accept Both Changes` keeps both lines, and `Compare Changes` opens a side-by-side diff.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Alternatively, click `Resolve in Merge Editor` in the bottom-right corner to review incoming versus current changes side by side.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your preferred resolution (such as accepting both or editing the text manually to combine them), then save the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Source Control, click `+` next to `greeting.txt` to mark it as resolved, enter a commit message like `fix: resolve greeting conflict`, click `Commit`, and click `Sync Changes` to update GitHub.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"fix: resolve greeting conflict"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origin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Inspect the merge history visually by opening the built-in terminal and running the graph log command, or by opening the Command Palette and selecting `Git: View Graph`.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log --oneline --graph --all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1eddc00e62debbeb_5_1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1eddc00e62debbeb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upsu.net/course-reps/become-a-course-rep" TargetMode="External"/><Relationship Id="rId4" Type="http://schemas.openxmlformats.org/officeDocument/2006/relationships/hyperlink" Target="https://myport.port.ac.uk/my-course/careers-support/santander-universities-partnership" TargetMode="External"/><Relationship Id="rId5" Type="http://schemas.openxmlformats.org/officeDocument/2006/relationships/hyperlink" Target="https://app.santanderopenacademy.com/en/program/santander-brighter-futures-grants-2026" TargetMode="External"/><Relationship Id="rId6" Type="http://schemas.openxmlformats.org/officeDocument/2006/relationships/hyperlink" Target="https://www.port.ac.uk/study/courses/undergraduate/bsc-hons-computer-science-dual-degree-brock-university" TargetMode="External"/><Relationship Id="rId7" Type="http://schemas.openxmlformats.org/officeDocument/2006/relationships/hyperlink" Target="mailto:janka.chlebikova@port.ac.u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developer.android.com/training/testing/fundamentals/strategi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flutter.dev/testing/integration-test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ub.dev/packages/tes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flutter.dev/cookbook/testing/widget/introducti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youtu.be/HosPml1qkrg?si=43A4MrLa24Dl4X9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anighahrmani.github.io/sandwich_shop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5EBE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Unit testing</a:t>
            </a:r>
            <a:endParaRPr b="1" sz="2000"/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4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Testing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Automated Testing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Automated 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News?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1440000"/>
            <a:ext cx="5175000" cy="7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  <a:hlinkClick r:id="rId3"/>
              </a:rPr>
              <a:t>Become a Course Representative</a:t>
            </a:r>
            <a:r>
              <a:rPr lang="en-GB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Shape teaching and assessment.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CV experience in leadership, advocacy, and public speaking …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  <a:hlinkClick r:id="rId4"/>
              </a:rPr>
              <a:t>Santander Brighter Futures Grants</a:t>
            </a:r>
            <a:r>
              <a:rPr lang="en-GB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Ten students receive £1,000 to spend freely on rent, bills, or study materials.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5-minute application. Closes 3 December.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Apply here: </a:t>
            </a:r>
            <a:r>
              <a:rPr lang="en-GB" sz="1600" u="sng">
                <a:solidFill>
                  <a:schemeClr val="hlink"/>
                </a:solidFill>
                <a:hlinkClick r:id="rId5"/>
              </a:rPr>
              <a:t>app.santanderopenacademy.com/en/program/santander-brighter-futures-grants-2026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  <a:hlinkClick r:id="rId6"/>
              </a:rPr>
              <a:t>Dual Degree (Computer Science only):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Do an extra year in Canada (Brock University) and finish with two degrees for (almost) the price of one.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Good marks from first year (+60%) and good maths.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Still have 2-3 places, and the possibility for transfer is closed at the end of October.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Contact </a:t>
            </a:r>
            <a:r>
              <a:rPr lang="en-GB" sz="1600" u="sng">
                <a:solidFill>
                  <a:schemeClr val="hlink"/>
                </a:solidFill>
                <a:hlinkClick r:id="rId7"/>
              </a:rPr>
              <a:t>janka.chlebikova@port.ac.uk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One more thing on Discord …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5" name="Google Shape;115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What’s </a:t>
            </a:r>
            <a:r>
              <a:rPr lang="en-GB" sz="2800"/>
              <a:t>automated</a:t>
            </a:r>
            <a:r>
              <a:rPr lang="en-GB" sz="2800"/>
              <a:t>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Manual testing, testing an application by hand, is slow and error-prone.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click through the app, check the screen, and repeat after every change.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Automated tests run in seconds and, if they are designed well, can catch bugs early 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Tests also document expected behaviour: a new team member reads the tests to understand what the code should do.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(That’s in </a:t>
            </a:r>
            <a:r>
              <a:rPr lang="en-GB" sz="1700">
                <a:solidFill>
                  <a:schemeClr val="dk1"/>
                </a:solidFill>
              </a:rPr>
              <a:t>addition</a:t>
            </a:r>
            <a:r>
              <a:rPr lang="en-GB" sz="1700">
                <a:solidFill>
                  <a:schemeClr val="dk1"/>
                </a:solidFill>
              </a:rPr>
              <a:t> to documentation, which we will learn about later.)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Testing strategies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8" name="Google Shape;128;p29"/>
          <p:cNvSpPr txBox="1"/>
          <p:nvPr/>
        </p:nvSpPr>
        <p:spPr>
          <a:xfrm>
            <a:off x="540000" y="1440000"/>
            <a:ext cx="51750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testing pyramid: many fast unit tests at the base, fewer widget tests in the middle, very few integration tests at the top.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Release and Application tests correspond to integration tests on builds (more on this later).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Feature and Component testing correspond to widget testing in Flutter.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We’ll learn about Unit and Widget testing now.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descr="A 5-layer test pyramid." id="129" name="Google Shape;1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75" y="5049150"/>
            <a:ext cx="4850134" cy="27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9"/>
          <p:cNvSpPr txBox="1"/>
          <p:nvPr/>
        </p:nvSpPr>
        <p:spPr>
          <a:xfrm>
            <a:off x="491563" y="7777350"/>
            <a:ext cx="50772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Image Source: "Testing strategies", Android Developers, Google. Available at: </a:t>
            </a:r>
            <a:r>
              <a:rPr lang="en-GB" sz="1200" u="sng">
                <a:solidFill>
                  <a:schemeClr val="hlink"/>
                </a:solidFill>
                <a:hlinkClick r:id="rId4"/>
              </a:rPr>
              <a:t>developer.android.com/training/testing/fundamentals/strategies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Integration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7" name="Google Shape;137;p30"/>
          <p:cNvSpPr txBox="1"/>
          <p:nvPr/>
        </p:nvSpPr>
        <p:spPr>
          <a:xfrm>
            <a:off x="540000" y="1440000"/>
            <a:ext cx="5175000" cy="52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Integration tests verify how multiple units work together or test the full application on a real device or browser.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Simulates complete user journeys end-to-end, such as navigating screens, submitting forms, and saving data.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Slower than unit and widget tests, but provides the highest confidence before releasing.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We will cover it later, but for more info on the integration testing, check the documentation: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https://docs.flutter.dev/testing/integration-tests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8" name="Google Shape;138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Test coverage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4" name="Google Shape;144;p31"/>
          <p:cNvSpPr txBox="1"/>
          <p:nvPr/>
        </p:nvSpPr>
        <p:spPr>
          <a:xfrm>
            <a:off x="540000" y="1440000"/>
            <a:ext cx="5175000" cy="4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Test coverage measures the proportion of your codebase executed while running automated tests.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Helps identify untested branches, missing edge cases, and dead code.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Run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flutter test --coverage</a:t>
            </a:r>
            <a:r>
              <a:rPr lang="en-GB" sz="1700">
                <a:solidFill>
                  <a:schemeClr val="dk1"/>
                </a:solidFill>
              </a:rPr>
              <a:t> to generate coverage data in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coverage/lcov.info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Visualise coverage directly in your editor using coverage extensions.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5" name="Google Shape;145;p3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5EBE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Unit testing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5EBE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Unit testing</a:t>
            </a:r>
            <a:endParaRPr b="1" sz="2000"/>
          </a:p>
        </p:txBody>
      </p:sp>
      <p:sp>
        <p:nvSpPr>
          <p:cNvPr id="156" name="Google Shape;156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Unit testing</a:t>
            </a:r>
            <a:endParaRPr sz="2800"/>
          </a:p>
        </p:txBody>
      </p:sp>
      <p:sp>
        <p:nvSpPr>
          <p:cNvPr id="157" name="Google Shape;157;p33"/>
          <p:cNvSpPr txBox="1"/>
          <p:nvPr/>
        </p:nvSpPr>
        <p:spPr>
          <a:xfrm>
            <a:off x="540000" y="1467258"/>
            <a:ext cx="5175000" cy="7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unit test exercises a single function, method, or class in isolation.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No Flutter widgets, no UI rendering, no device needed.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</a:t>
            </a:r>
            <a:r>
              <a:rPr lang="en-GB" sz="1700">
                <a:solidFill>
                  <a:schemeClr val="dk1"/>
                </a:solidFill>
              </a:rPr>
              <a:t> package: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test()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expect()</a:t>
            </a:r>
            <a:r>
              <a:rPr lang="en-GB" sz="1700">
                <a:solidFill>
                  <a:schemeClr val="dk1"/>
                </a:solidFill>
              </a:rPr>
              <a:t>, matchers like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equals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isTrue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throwsA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See examples here: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pub.dev/packages/test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Group related tests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group()</a:t>
            </a:r>
            <a:r>
              <a:rPr lang="en-GB" sz="1700">
                <a:solidFill>
                  <a:schemeClr val="dk1"/>
                </a:solidFill>
              </a:rPr>
              <a:t> for readability.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 group related tests into a file (ideally a test file corresponding to a unit).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Good tests are independent, repeatable, and fast.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C2410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/>
        </p:nvSpPr>
        <p:spPr>
          <a:xfrm>
            <a:off x="540000" y="1440000"/>
            <a:ext cx="51750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widget test renders a widget in a test environment and verifies its behaviour.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testWidgets()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WidgetTester</a:t>
            </a:r>
            <a:r>
              <a:rPr lang="en-GB" sz="1700">
                <a:solidFill>
                  <a:schemeClr val="dk1"/>
                </a:solidFill>
              </a:rPr>
              <a:t>, and finders like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find.text()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find.byType()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pumpWidget()</a:t>
            </a:r>
            <a:r>
              <a:rPr lang="en-GB" sz="1700">
                <a:solidFill>
                  <a:schemeClr val="dk1"/>
                </a:solidFill>
              </a:rPr>
              <a:t> builds the widget tree;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pump()</a:t>
            </a:r>
            <a:r>
              <a:rPr lang="en-GB" sz="1700">
                <a:solidFill>
                  <a:schemeClr val="dk1"/>
                </a:solidFill>
              </a:rPr>
              <a:t> triggers a rebuild after state changes.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tester.tap()</a:t>
            </a:r>
            <a:r>
              <a:rPr lang="en-GB" sz="1700">
                <a:solidFill>
                  <a:schemeClr val="dk1"/>
                </a:solidFill>
              </a:rPr>
              <a:t> simulates user interaction; follow it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pump()</a:t>
            </a:r>
            <a:r>
              <a:rPr lang="en-GB" sz="1700">
                <a:solidFill>
                  <a:schemeClr val="dk1"/>
                </a:solidFill>
              </a:rPr>
              <a:t> to see the result.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need to check the documentation page to learn the basics for this one: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An introduction to widget testing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68" name="Google Shape;168;p35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C2410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69" name="Google Shape;169;p35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Widget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/>
        </p:nvSpPr>
        <p:spPr>
          <a:xfrm>
            <a:off x="540000" y="1440000"/>
            <a:ext cx="5175000" cy="6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widget test renders a widget in a test environment and verifies its behaviour.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Behaviours like: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Does the widget display the correct text and icons for a given model?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Does tapping a button update the UI as expected?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Does navigation push the right screen when a list item is tapped?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Keep widget tests focused on one behaviour per test (they can be grouped into files or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1700">
                <a:solidFill>
                  <a:schemeClr val="dk1"/>
                </a:solidFill>
              </a:rPr>
              <a:t>s just like unit tests).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75" name="Google Shape;175;p36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C2410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76" name="Google Shape;176;p36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Widget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Live coding</a:t>
            </a:r>
            <a:endParaRPr/>
          </a:p>
        </p:txBody>
      </p:sp>
      <p:sp>
        <p:nvSpPr>
          <p:cNvPr id="182" name="Google Shape;182;p37"/>
          <p:cNvSpPr txBox="1"/>
          <p:nvPr>
            <p:ph idx="1" type="body"/>
          </p:nvPr>
        </p:nvSpPr>
        <p:spPr>
          <a:xfrm>
            <a:off x="194825" y="1920800"/>
            <a:ext cx="5435400" cy="66516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rmAutofit lnSpcReduction="20000"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Conflicts are normal and not something to fear. They happen when two people (or two branches) edit the same line.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tooling in VS Code makes resolution straightforward.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tutorial on YouTube: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youtu.be/HosPml1qkrg?si=43A4MrLa24Dl4X99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Avoiding conflicts in practice: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Pull before you push. Fetch and merge (or rebase) regularly.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Keep branches short-lived. Merge back to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700">
                <a:solidFill>
                  <a:schemeClr val="dk1"/>
                </a:solidFill>
              </a:rPr>
              <a:t> often.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Communicate with your team about who is working on which files.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Use meaningful commit messages so the merge history is readable.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3</a:t>
            </a:r>
            <a:endParaRPr/>
          </a:p>
        </p:txBody>
      </p:sp>
      <p:sp>
        <p:nvSpPr>
          <p:cNvPr id="188" name="Google Shape;188;p38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4 and Worksheet 5 exercises: home view with movie cards and navigation to dynamic listing.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 unit tests and widget tests covering almost all of your codebase.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Demonstrate in your own timetabled practical session.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only do one demo in each window.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on the web page: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94" name="Google Shape;194;p39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9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
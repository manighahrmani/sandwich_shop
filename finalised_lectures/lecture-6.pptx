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y="8572500" cx="5715000"/>
  <p:notesSz cx="6858000" cy="9144000"/>
  <p:embeddedFontLs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700">
          <p15:clr>
            <a:srgbClr val="A4A3A4"/>
          </p15:clr>
        </p15:guide>
        <p15:guide id="2" pos="340">
          <p15:clr>
            <a:srgbClr val="A4A3A4"/>
          </p15:clr>
        </p15:guide>
        <p15:guide id="3" pos="227">
          <p15:clr>
            <a:srgbClr val="9AA0A6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Mani Gh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700" orient="horz"/>
        <p:guide pos="340"/>
        <p:guide pos="22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RobotoMono-regular.fntdata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RobotoMono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10-20T13:10:01.727">
    <p:pos x="340" y="907"/>
    <p:text>Why should we specify final or constant?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a6b21d61a4_1_237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a6b21d61a4_1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a922a615a_1_51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a922a615a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3c6607f17795faeb_0_0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h3c6607f17795fa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49c0c78aaffe7a7f_3_0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h49c0c78aaffe7a7f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49c0c78aaffe7a7f_3_9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h49c0c78aaffe7a7f_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h432bd9acdf8d6d2e_0_3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h432bd9acdf8d6d2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49c0c78aaffe7a7f_3_23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h49c0c78aaffe7a7f_3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h432bd9acdf8d6d2e_0_9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h432bd9acdf8d6d2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h432bd9acdf8d6d2e_0_16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h432bd9acdf8d6d2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5f7524da5d_0_1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5f7524da5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h432bd9acdf8d6d2e_0_22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h432bd9acdf8d6d2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h432bd9acdf8d6d2e_0_31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h432bd9acdf8d6d2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h432bd9acdf8d6d2e_0_37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h432bd9acdf8d6d2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a922a615a_1_11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fa922a615a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a922a615a_1_4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fa922a615a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h432bd9acdf8d6d2e_0_53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h432bd9acdf8d6d2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h432bd9acdf8d6d2e_0_60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h432bd9acdf8d6d2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8e5763648_0_0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f8e57636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See</a:t>
            </a:r>
            <a:r>
              <a:rPr lang="en-GB"/>
              <a:t> the README on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main</a:t>
            </a:r>
            <a:r>
              <a:rPr lang="en-GB"/>
              <a:t> and both feature branches.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Each student selects their branch, edit the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Film and date</a:t>
            </a:r>
            <a:r>
              <a:rPr lang="en-GB"/>
              <a:t> line in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README.md</a:t>
            </a:r>
            <a:r>
              <a:rPr lang="en-GB"/>
              <a:t>, and commit directly to that branch.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Do not edit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main</a:t>
            </a:r>
            <a:r>
              <a:rPr lang="en-GB"/>
              <a:t> or merge anything.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Each student should open a pull request with base set to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main</a:t>
            </a:r>
            <a:r>
              <a:rPr lang="en-GB"/>
              <a:t> and compare set to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feature-film-a</a:t>
            </a:r>
            <a:r>
              <a:rPr lang="en-GB"/>
              <a:t> or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feature-film-a</a:t>
            </a:r>
            <a:r>
              <a:rPr lang="en-GB"/>
              <a:t>.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Use the title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Suggest a film and date</a:t>
            </a:r>
            <a:r>
              <a:rPr lang="en-GB"/>
              <a:t>, then leave the pull request open.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Let’s see </a:t>
            </a:r>
            <a:r>
              <a:rPr lang="en-GB"/>
              <a:t>both pull requests in GitHub's new pull request page and review the changed README.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Both should be individually mergeable because neither branch has changed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main</a:t>
            </a:r>
            <a:r>
              <a:rPr lang="en-GB"/>
              <a:t> yet.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Let’s merge the first pull request using the merge panel on the pull request page.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other pull request should now show a conflict because both branches changed the same line.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In </a:t>
            </a:r>
            <a:r>
              <a:rPr lang="en-GB"/>
              <a:t>the second pull request, let’s use the new merge panel/page to resolve the conflict.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In comments (or elsewhere) we need to agree on one film and date, update the conflicting line, and commit the resolution to the pull request branch.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Let’s r</a:t>
            </a:r>
            <a:r>
              <a:rPr lang="en-GB"/>
              <a:t>eview the updated pull request, then merge it from the same page.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Open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README.md</a:t>
            </a:r>
            <a:r>
              <a:rPr lang="en-GB"/>
              <a:t> on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main</a:t>
            </a:r>
            <a:r>
              <a:rPr lang="en-GB"/>
              <a:t> and confirm it includes the agreed film and date, the FTC floor 3 location, and the reminder to bring snacks or popcorn.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h1eddc00e62debbeb_5_11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h1eddc00e62debbeb_5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ba8f7da0b_1_9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fba8f7da0b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94818" y="1240958"/>
            <a:ext cx="5325300" cy="342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94813" y="4723542"/>
            <a:ext cx="5325300" cy="13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94813" y="3584750"/>
            <a:ext cx="5325300" cy="14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94813" y="1920792"/>
            <a:ext cx="2499900" cy="56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020250" y="1920792"/>
            <a:ext cx="2499900" cy="56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94813" y="926000"/>
            <a:ext cx="1755000" cy="125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94813" y="2316000"/>
            <a:ext cx="1755000" cy="52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306406" y="750250"/>
            <a:ext cx="3979800" cy="6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857500" y="-208"/>
            <a:ext cx="2857500" cy="857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65938" y="2055292"/>
            <a:ext cx="2528100" cy="24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65938" y="4671792"/>
            <a:ext cx="2528100" cy="205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3087188" y="1206792"/>
            <a:ext cx="2398200" cy="61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94813" y="7050958"/>
            <a:ext cx="3749400" cy="100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94813" y="1843542"/>
            <a:ext cx="5325300" cy="32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94813" y="5253708"/>
            <a:ext cx="5325300" cy="21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194818" y="1240958"/>
            <a:ext cx="5325300" cy="34209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194813" y="4723542"/>
            <a:ext cx="5325300" cy="13209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194813" y="3584750"/>
            <a:ext cx="5325300" cy="1403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500"/>
              </a:spcBef>
              <a:spcAft>
                <a:spcPts val="15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194813" y="1920792"/>
            <a:ext cx="2499900" cy="56940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500"/>
              </a:spcBef>
              <a:spcAft>
                <a:spcPts val="15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3020250" y="1920792"/>
            <a:ext cx="2499900" cy="56940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500"/>
              </a:spcBef>
              <a:spcAft>
                <a:spcPts val="15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194813" y="926000"/>
            <a:ext cx="1755000" cy="12594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194813" y="2316000"/>
            <a:ext cx="1755000" cy="52989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500"/>
              </a:spcBef>
              <a:spcAft>
                <a:spcPts val="15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306406" y="750250"/>
            <a:ext cx="3979800" cy="6818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2857500" y="-208"/>
            <a:ext cx="2857500" cy="857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165938" y="2055292"/>
            <a:ext cx="2528400" cy="24705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165938" y="4671792"/>
            <a:ext cx="2528400" cy="2058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3087188" y="1206792"/>
            <a:ext cx="2398200" cy="61584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500"/>
              </a:spcBef>
              <a:spcAft>
                <a:spcPts val="15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194813" y="7050958"/>
            <a:ext cx="3749400" cy="10086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194813" y="1843542"/>
            <a:ext cx="5325300" cy="32724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194813" y="5253708"/>
            <a:ext cx="5325300" cy="21681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500"/>
              </a:spcBef>
              <a:spcAft>
                <a:spcPts val="15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jetbrains.com/academy/student-pack/" TargetMode="External"/><Relationship Id="rId4" Type="http://schemas.openxmlformats.org/officeDocument/2006/relationships/hyperlink" Target="https://azure.microsoft.com/en-gb/free/students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eveloper.mozilla.org/en-US/docs/Learn_web_development/Core/Scripting/JSON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s.flutter.dev/ui/assets/assets-and-images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art.dev/language/constructors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cs.flutter.dev/data-and-backend/serialization/json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1.xml"/><Relationship Id="rId4" Type="http://schemas.openxmlformats.org/officeDocument/2006/relationships/hyperlink" Target="https://dart.dev/libraries/async/async-await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api.flutter.dev/flutter/widgets/State/initState.html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api.flutter.dev/flutter/material/CircularProgressIndicator-class.html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ocs.flutter.dev/cookbook/persistence/key-value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ocs.github.com/en/pull-requests/how-tos/merge-and-close-pull-requests/resolving-a-merge-conflict-on-github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manighahrmani.github.io/sandwich_shop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forms.cloud.microsoft/e/88jd4UGAui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idx="4294967295" type="title"/>
          </p:nvPr>
        </p:nvSpPr>
        <p:spPr>
          <a:xfrm>
            <a:off x="2501850" y="2857378"/>
            <a:ext cx="3213300" cy="2857500"/>
          </a:xfrm>
          <a:prstGeom prst="rect">
            <a:avLst/>
          </a:prstGeom>
          <a:solidFill>
            <a:srgbClr val="F8FAFC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Async load</a:t>
            </a:r>
            <a:endParaRPr b="1" sz="2000"/>
          </a:p>
        </p:txBody>
      </p:sp>
      <p:sp>
        <p:nvSpPr>
          <p:cNvPr id="100" name="Google Shape;100;p25"/>
          <p:cNvSpPr txBox="1"/>
          <p:nvPr>
            <p:ph type="ctrTitle"/>
          </p:nvPr>
        </p:nvSpPr>
        <p:spPr>
          <a:xfrm>
            <a:off x="99825" y="0"/>
            <a:ext cx="2321100" cy="43110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/>
              <a:t>PAPL (M30235) UXDI (M32605)</a:t>
            </a:r>
            <a:endParaRPr b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Lecture 6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JSON and Saved Pref.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101" name="Google Shape;101;p25"/>
          <p:cNvSpPr txBox="1"/>
          <p:nvPr>
            <p:ph idx="4294967295" type="title"/>
          </p:nvPr>
        </p:nvSpPr>
        <p:spPr>
          <a:xfrm>
            <a:off x="2501850" y="-123"/>
            <a:ext cx="3213300" cy="2857500"/>
          </a:xfrm>
          <a:prstGeom prst="rect">
            <a:avLst/>
          </a:prstGeom>
          <a:solidFill>
            <a:srgbClr val="034078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</a:rPr>
              <a:t>JSON assets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02" name="Google Shape;102;p25"/>
          <p:cNvSpPr txBox="1"/>
          <p:nvPr>
            <p:ph idx="4294967295" type="title"/>
          </p:nvPr>
        </p:nvSpPr>
        <p:spPr>
          <a:xfrm>
            <a:off x="2501850" y="5714878"/>
            <a:ext cx="3213300" cy="2857500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0000"/>
                </a:solidFill>
              </a:rPr>
              <a:t>Saved preferences</a:t>
            </a:r>
            <a:endParaRPr b="1" sz="2000">
              <a:solidFill>
                <a:srgbClr val="000000"/>
              </a:solidFill>
            </a:endParaRPr>
          </a:p>
        </p:txBody>
      </p:sp>
      <p:pic>
        <p:nvPicPr>
          <p:cNvPr id="103" name="Google Shape;10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05" y="6764586"/>
            <a:ext cx="680140" cy="758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 txBox="1"/>
          <p:nvPr>
            <p:ph idx="4294967295" type="title"/>
          </p:nvPr>
        </p:nvSpPr>
        <p:spPr>
          <a:xfrm>
            <a:off x="0" y="0"/>
            <a:ext cx="5715000" cy="8572500"/>
          </a:xfrm>
          <a:prstGeom prst="rect">
            <a:avLst/>
          </a:prstGeom>
          <a:solidFill>
            <a:srgbClr val="034078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JSON assets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034078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JSON assets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14" name="Google Shape;114;p27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Tech news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15" name="Google Shape;115;p27"/>
          <p:cNvSpPr txBox="1"/>
          <p:nvPr/>
        </p:nvSpPr>
        <p:spPr>
          <a:xfrm>
            <a:off x="540000" y="1440000"/>
            <a:ext cx="5175000" cy="43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JetBrains Student Pack: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Free professional licences for IntelliJ IDEA Ultimate, WebStorm, PyCharm, …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Renews annually with university email.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Get yourself some here: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jetbrains.com/academy/student-pack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Azure free $100!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 u="sng">
                <a:solidFill>
                  <a:schemeClr val="hlink"/>
                </a:solidFill>
                <a:hlinkClick r:id="rId4"/>
              </a:rPr>
              <a:t>azure.microsoft.com/en-gb/free/students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○"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034078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JSON assets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21" name="Google Shape;121;p28"/>
          <p:cNvSpPr txBox="1"/>
          <p:nvPr/>
        </p:nvSpPr>
        <p:spPr>
          <a:xfrm>
            <a:off x="540000" y="1440000"/>
            <a:ext cx="5175000" cy="42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Structured data has a rigid rule that enforces the same types in every instance (e.g., rows in a normalised SQL database).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Semi-structured data allows exceptions and is less rigid compared to structured data (e.g., XML and JSON).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Unstructured data has no order; no schema is enforced (e.g., plain text files, images, and generally files that require special software to be read or used).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22" name="Google Shape;122;p28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Kinds of data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034078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JSON assets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28" name="Google Shape;128;p29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Structured data with JSON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29" name="Google Shape;129;p29"/>
          <p:cNvSpPr txBox="1"/>
          <p:nvPr/>
        </p:nvSpPr>
        <p:spPr>
          <a:xfrm>
            <a:off x="540000" y="1440000"/>
            <a:ext cx="5175000" cy="66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JSON (JavaScript Object Notation) is a plain-text format for structured data.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Data is organised into key-value maps (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{}</a:t>
            </a:r>
            <a:r>
              <a:rPr lang="en-GB" sz="1700">
                <a:solidFill>
                  <a:schemeClr val="dk1"/>
                </a:solidFill>
              </a:rPr>
              <a:t>) and ordered lists (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[]</a:t>
            </a:r>
            <a:r>
              <a:rPr lang="en-GB" sz="1700">
                <a:solidFill>
                  <a:schemeClr val="dk1"/>
                </a:solidFill>
              </a:rPr>
              <a:t>).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 JSON object with different value types: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"id": </a:t>
            </a:r>
            <a:r>
              <a:rPr lang="en-GB" sz="1600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"1"</a:t>
            </a:r>
            <a: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"name": </a:t>
            </a:r>
            <a:r>
              <a:rPr lang="en-GB" sz="1600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"Item A"</a:t>
            </a:r>
            <a: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"count": </a:t>
            </a:r>
            <a:r>
              <a:rPr lang="en-GB" sz="16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"active": </a:t>
            </a:r>
            <a:r>
              <a:rPr lang="en-GB" sz="16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b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 JSON object with different value types: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b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{ "id": </a:t>
            </a:r>
            <a:r>
              <a:rPr lang="en-GB" sz="1600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"1"</a:t>
            </a:r>
            <a: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, "name": </a:t>
            </a:r>
            <a:r>
              <a:rPr lang="en-GB" sz="1600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"Item A"</a:t>
            </a:r>
            <a: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},</a:t>
            </a:r>
            <a:b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{ "id": </a:t>
            </a:r>
            <a:r>
              <a:rPr lang="en-GB" sz="1600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"2"</a:t>
            </a:r>
            <a: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, "name": </a:t>
            </a:r>
            <a:r>
              <a:rPr lang="en-GB" sz="1600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"Item B"</a:t>
            </a:r>
            <a: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}</a:t>
            </a:r>
            <a:b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0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034078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JSON assets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35" name="Google Shape;135;p30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Structured data with JSON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36" name="Google Shape;136;p30"/>
          <p:cNvSpPr txBox="1"/>
          <p:nvPr/>
        </p:nvSpPr>
        <p:spPr>
          <a:xfrm>
            <a:off x="540000" y="1440000"/>
            <a:ext cx="5175000" cy="44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Hardcoded data mixes presentation with data; changing a price or sandwich requires updating and recompiling Dart code.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Moving data to JSON separates content from code so non-developers can update data independently.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Dart maps JSON objects to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Map&lt;String, dynamic&gt;</a:t>
            </a:r>
            <a:r>
              <a:rPr lang="en-GB" sz="1700">
                <a:solidFill>
                  <a:schemeClr val="dk1"/>
                </a:solidFill>
              </a:rPr>
              <a:t> and arrays to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List&lt;dynamic&gt;</a:t>
            </a:r>
            <a:r>
              <a:rPr lang="en-GB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Learn more in the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MDN JSON guide</a:t>
            </a:r>
            <a:r>
              <a:rPr lang="en-GB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034078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JSON assets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42" name="Google Shape;142;p31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Bundled assets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43" name="Google Shape;143;p31"/>
          <p:cNvSpPr txBox="1"/>
          <p:nvPr/>
        </p:nvSpPr>
        <p:spPr>
          <a:xfrm>
            <a:off x="540000" y="1440000"/>
            <a:ext cx="5175000" cy="6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JSON assets must also be registered in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pubspec.yaml</a:t>
            </a:r>
            <a:r>
              <a:rPr lang="en-GB" sz="1700">
                <a:solidFill>
                  <a:schemeClr val="dk1"/>
                </a:solidFill>
              </a:rPr>
              <a:t> under the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flutter</a:t>
            </a:r>
            <a:r>
              <a:rPr lang="en-GB" sz="1700">
                <a:solidFill>
                  <a:schemeClr val="dk1"/>
                </a:solidFill>
              </a:rPr>
              <a:t> section: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flutter:</a:t>
            </a:r>
            <a:b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assets:</a:t>
            </a:r>
            <a:b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600">
                <a:solidFill>
                  <a:srgbClr val="990073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assets/images/</a:t>
            </a:r>
            <a:b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600">
                <a:solidFill>
                  <a:srgbClr val="333333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600">
                <a:solidFill>
                  <a:srgbClr val="990073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-GB" sz="1600">
                <a:solidFill>
                  <a:srgbClr val="333333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DD1144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assets/data/</a:t>
            </a:r>
            <a:endParaRPr sz="1600">
              <a:solidFill>
                <a:srgbClr val="DD1144"/>
              </a:solidFill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DD114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Flutter bundles registered assets into the compiled app binary at build time.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Read asset text with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rootBundle</a:t>
            </a:r>
            <a:r>
              <a:rPr lang="en-GB" sz="1700">
                <a:solidFill>
                  <a:schemeClr val="dk1"/>
                </a:solidFill>
              </a:rPr>
              <a:t> from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package:flutter/services.dart</a:t>
            </a:r>
            <a:r>
              <a:rPr lang="en-GB" sz="1700">
                <a:solidFill>
                  <a:schemeClr val="dk1"/>
                </a:solidFill>
              </a:rPr>
              <a:t>: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final</a:t>
            </a:r>
            <a: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600">
                <a:solidFill>
                  <a:srgbClr val="0086B3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jsonString = </a:t>
            </a:r>
            <a:b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await</a:t>
            </a:r>
            <a: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rootBundle.loadString(</a:t>
            </a:r>
            <a:b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GB" sz="1600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'assets/data/items.json'</a:t>
            </a:r>
            <a:b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6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);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More information at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Adding assets and images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2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034078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JSON assets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49" name="Google Shape;149;p32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From JSON to a Dart object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50" name="Google Shape;150;p32"/>
          <p:cNvSpPr txBox="1"/>
          <p:nvPr/>
        </p:nvSpPr>
        <p:spPr>
          <a:xfrm>
            <a:off x="540000" y="1440000"/>
            <a:ext cx="5175000" cy="55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 class for the object (the model), with a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factory</a:t>
            </a:r>
            <a:r>
              <a:rPr lang="en-GB" sz="1700">
                <a:solidFill>
                  <a:schemeClr val="dk1"/>
                </a:solidFill>
              </a:rPr>
              <a:t> constructor that reads a map: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GB" sz="1300">
                <a:solidFill>
                  <a:srgbClr val="445588"/>
                </a:solidFill>
                <a:latin typeface="Consolas"/>
                <a:ea typeface="Consolas"/>
                <a:cs typeface="Consolas"/>
                <a:sym typeface="Consolas"/>
              </a:rPr>
              <a:t>Item</a:t>
            </a:r>
            <a: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b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final</a:t>
            </a:r>
            <a: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300">
                <a:solidFill>
                  <a:srgbClr val="0086B3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id;</a:t>
            </a:r>
            <a:b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final</a:t>
            </a:r>
            <a: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300">
                <a:solidFill>
                  <a:srgbClr val="0086B3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name;</a:t>
            </a:r>
            <a:b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Item({required </a:t>
            </a:r>
            <a:r>
              <a:rPr b="1"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.id, required </a:t>
            </a:r>
            <a:r>
              <a:rPr b="1"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.name});</a:t>
            </a:r>
            <a:b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factory</a:t>
            </a:r>
            <a: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Item.fromJson(</a:t>
            </a:r>
            <a:r>
              <a:rPr lang="en-GB" sz="1300">
                <a:solidFill>
                  <a:srgbClr val="0086B3"/>
                </a:solidFill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GB" sz="1300">
                <a:solidFill>
                  <a:srgbClr val="0086B3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GB" sz="1300">
                <a:solidFill>
                  <a:srgbClr val="0086B3"/>
                </a:solidFill>
                <a:latin typeface="Consolas"/>
                <a:ea typeface="Consolas"/>
                <a:cs typeface="Consolas"/>
                <a:sym typeface="Consolas"/>
              </a:rPr>
              <a:t>dynamic</a:t>
            </a:r>
            <a: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 json) {</a:t>
            </a:r>
            <a:b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Item(</a:t>
            </a:r>
            <a:b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id: json[</a:t>
            </a:r>
            <a:r>
              <a:rPr lang="en-GB" sz="1300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'id'</a:t>
            </a:r>
            <a: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b="1"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300">
                <a:solidFill>
                  <a:srgbClr val="0086B3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name: json[</a:t>
            </a:r>
            <a:r>
              <a:rPr lang="en-GB" sz="1300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'name'</a:t>
            </a:r>
            <a: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b="1"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300">
                <a:solidFill>
                  <a:srgbClr val="0086B3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);</a:t>
            </a:r>
            <a:b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b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3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factory</a:t>
            </a:r>
            <a:r>
              <a:rPr lang="en-GB" sz="1700">
                <a:solidFill>
                  <a:schemeClr val="dk1"/>
                </a:solidFill>
              </a:rPr>
              <a:t> constructor is needed to perform the conversions before returning an instance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More info here: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Constructors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3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034078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JSON assets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56" name="Google Shape;156;p33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From JSON to a Dart object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57" name="Google Shape;157;p33"/>
          <p:cNvSpPr txBox="1"/>
          <p:nvPr/>
        </p:nvSpPr>
        <p:spPr>
          <a:xfrm>
            <a:off x="540000" y="1440000"/>
            <a:ext cx="5175000" cy="3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Each value comes out as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dynamic</a:t>
            </a:r>
            <a:r>
              <a:rPr lang="en-GB" sz="1700">
                <a:solidFill>
                  <a:schemeClr val="dk1"/>
                </a:solidFill>
              </a:rPr>
              <a:t>, so cast it explicitly with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toJson</a:t>
            </a:r>
            <a:r>
              <a:rPr lang="en-GB" sz="1700">
                <a:solidFill>
                  <a:schemeClr val="dk1"/>
                </a:solidFill>
              </a:rPr>
              <a:t> method does the reverse: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Map&lt;String, dynamic&gt; toJson() {</a:t>
            </a:r>
            <a:b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return &lt;String, dynamic&gt;{</a:t>
            </a:r>
            <a:b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'id': id,</a:t>
            </a:r>
            <a:b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'name': name,</a:t>
            </a:r>
            <a:b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};</a:t>
            </a:r>
            <a:b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More details here: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JSON and serialization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4"/>
          <p:cNvSpPr txBox="1"/>
          <p:nvPr>
            <p:ph idx="4294967295" type="title"/>
          </p:nvPr>
        </p:nvSpPr>
        <p:spPr>
          <a:xfrm>
            <a:off x="0" y="0"/>
            <a:ext cx="5715000" cy="8572500"/>
          </a:xfrm>
          <a:prstGeom prst="rect">
            <a:avLst/>
          </a:prstGeom>
          <a:solidFill>
            <a:srgbClr val="F8FAFC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/>
              <a:t>Async load</a:t>
            </a:r>
            <a:endParaRPr b="1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5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Futures, async and await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68" name="Google Shape;168;p35"/>
          <p:cNvSpPr txBox="1"/>
          <p:nvPr/>
        </p:nvSpPr>
        <p:spPr>
          <a:xfrm>
            <a:off x="540000" y="1440000"/>
            <a:ext cx="5175000" cy="7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Reading a file takes time; the app must not freeze while waiting.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Future&lt;T&gt;</a:t>
            </a:r>
            <a:r>
              <a:rPr lang="en-GB" sz="1700">
                <a:solidFill>
                  <a:schemeClr val="dk1"/>
                </a:solidFill>
              </a:rPr>
              <a:t> is a value of type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n-GB" sz="1700">
                <a:solidFill>
                  <a:schemeClr val="dk1"/>
                </a:solidFill>
              </a:rPr>
              <a:t> that arrives later.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Inside an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async</a:t>
            </a:r>
            <a:r>
              <a:rPr lang="en-GB" sz="1700">
                <a:solidFill>
                  <a:schemeClr val="dk1"/>
                </a:solidFill>
              </a:rPr>
              <a:t> function,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await</a:t>
            </a:r>
            <a:r>
              <a:rPr lang="en-GB" sz="1700">
                <a:solidFill>
                  <a:schemeClr val="dk1"/>
                </a:solidFill>
              </a:rPr>
              <a:t> pauses until the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Future</a:t>
            </a:r>
            <a:r>
              <a:rPr lang="en-GB" sz="1700">
                <a:solidFill>
                  <a:schemeClr val="dk1"/>
                </a:solidFill>
              </a:rPr>
              <a:t> completes: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Future&lt;</a:t>
            </a:r>
            <a:r>
              <a:rPr lang="en-GB" sz="1100">
                <a:solidFill>
                  <a:srgbClr val="0086B3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&lt;Item&gt;&gt; loadItems() </a:t>
            </a:r>
            <a:r>
              <a:rPr b="1"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async</a:t>
            </a:r>
            <a: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b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100">
                <a:solidFill>
                  <a:srgbClr val="0086B3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text =</a:t>
            </a:r>
            <a:b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await</a:t>
            </a:r>
            <a: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rootBundle.loadString(</a:t>
            </a:r>
            <a:r>
              <a:rPr lang="en-GB" sz="1100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'assets/data/items.json'</a:t>
            </a:r>
            <a: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b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final</a:t>
            </a:r>
            <a: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100">
                <a:solidFill>
                  <a:srgbClr val="0086B3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GB" sz="1100">
                <a:solidFill>
                  <a:srgbClr val="0086B3"/>
                </a:solidFill>
                <a:latin typeface="Consolas"/>
                <a:ea typeface="Consolas"/>
                <a:cs typeface="Consolas"/>
                <a:sym typeface="Consolas"/>
              </a:rPr>
              <a:t>dynamic</a:t>
            </a:r>
            <a: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 list =</a:t>
            </a:r>
            <a:b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jsonDecode(text) </a:t>
            </a:r>
            <a:r>
              <a:rPr b="1"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100">
                <a:solidFill>
                  <a:srgbClr val="0086B3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GB" sz="1100">
                <a:solidFill>
                  <a:srgbClr val="0086B3"/>
                </a:solidFill>
                <a:latin typeface="Consolas"/>
                <a:ea typeface="Consolas"/>
                <a:cs typeface="Consolas"/>
                <a:sym typeface="Consolas"/>
              </a:rPr>
              <a:t>dynamic</a:t>
            </a:r>
            <a: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&gt;;</a:t>
            </a:r>
            <a:b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final</a:t>
            </a:r>
            <a: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100">
                <a:solidFill>
                  <a:srgbClr val="0086B3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&lt;Item&gt; items = &lt;Item&gt;[];</a:t>
            </a:r>
            <a:b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final</a:t>
            </a:r>
            <a: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100">
                <a:solidFill>
                  <a:srgbClr val="0086B3"/>
                </a:solidFill>
                <a:latin typeface="Consolas"/>
                <a:ea typeface="Consolas"/>
                <a:cs typeface="Consolas"/>
                <a:sym typeface="Consolas"/>
              </a:rPr>
              <a:t>dynamic</a:t>
            </a:r>
            <a: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item </a:t>
            </a:r>
            <a:r>
              <a:rPr b="1"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list) {</a:t>
            </a:r>
            <a:b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items.add(Item.</a:t>
            </a:r>
            <a: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fromJson</a:t>
            </a:r>
            <a: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(item </a:t>
            </a:r>
            <a:r>
              <a:rPr b="1"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100">
                <a:solidFill>
                  <a:srgbClr val="0086B3"/>
                </a:solidFill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GB" sz="1100">
                <a:solidFill>
                  <a:srgbClr val="0086B3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GB" sz="1100">
                <a:solidFill>
                  <a:srgbClr val="0086B3"/>
                </a:solidFill>
                <a:latin typeface="Consolas"/>
                <a:ea typeface="Consolas"/>
                <a:cs typeface="Consolas"/>
                <a:sym typeface="Consolas"/>
              </a:rPr>
              <a:t>dynamic</a:t>
            </a:r>
            <a: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&gt;));</a:t>
            </a:r>
            <a:b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b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items;</a:t>
            </a:r>
            <a:b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(A call to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loadItems</a:t>
            </a:r>
            <a:r>
              <a:rPr lang="en-GB" sz="1700">
                <a:solidFill>
                  <a:schemeClr val="dk1"/>
                </a:solidFill>
              </a:rPr>
              <a:t> returns a promise to be resolved later; meanwhile, other tasks happen as Dart is single-threaded like Node.)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jsonDecode</a:t>
            </a:r>
            <a:r>
              <a:rPr lang="en-GB" sz="1700">
                <a:solidFill>
                  <a:schemeClr val="dk1"/>
                </a:solidFill>
              </a:rPr>
              <a:t> (from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dart:convert</a:t>
            </a:r>
            <a:r>
              <a:rPr lang="en-GB" sz="1700">
                <a:solidFill>
                  <a:schemeClr val="dk1"/>
                </a:solidFill>
              </a:rPr>
              <a:t>) turns the text into Dart lists and maps.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More detail: </a:t>
            </a:r>
            <a:r>
              <a:rPr lang="en-GB" sz="1700" u="sng">
                <a:solidFill>
                  <a:schemeClr val="hlink"/>
                </a:solidFill>
                <a:hlinkClick r:id="rId4"/>
              </a:rPr>
              <a:t>Asynchronous programming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69" name="Google Shape;169;p35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F8FAFC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/>
              <a:t>Async load</a:t>
            </a:r>
            <a:endParaRPr b="1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6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Starting the load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75" name="Google Shape;175;p36"/>
          <p:cNvSpPr txBox="1"/>
          <p:nvPr/>
        </p:nvSpPr>
        <p:spPr>
          <a:xfrm>
            <a:off x="540000" y="1440000"/>
            <a:ext cx="5175000" cy="7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State</a:t>
            </a:r>
            <a:r>
              <a:rPr lang="en-GB" sz="1700">
                <a:solidFill>
                  <a:schemeClr val="dk1"/>
                </a:solidFill>
              </a:rPr>
              <a:t> class has a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initState</a:t>
            </a:r>
            <a:r>
              <a:rPr lang="en-GB" sz="1700">
                <a:solidFill>
                  <a:schemeClr val="dk1"/>
                </a:solidFill>
              </a:rPr>
              <a:t> method that runs when the screen's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State</a:t>
            </a:r>
            <a:r>
              <a:rPr lang="en-GB" sz="1700">
                <a:solidFill>
                  <a:schemeClr val="dk1"/>
                </a:solidFill>
              </a:rPr>
              <a:t> is created; start the load there, not in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build</a:t>
            </a:r>
            <a:r>
              <a:rPr lang="en-GB" sz="1700">
                <a:solidFill>
                  <a:schemeClr val="dk1"/>
                </a:solidFill>
              </a:rPr>
              <a:t>: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b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initState() {</a:t>
            </a:r>
            <a:b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super</a:t>
            </a: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.initState();</a:t>
            </a:r>
            <a:b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i="1" lang="en-GB">
                <a:solidFill>
                  <a:srgbClr val="999988"/>
                </a:solidFill>
                <a:latin typeface="Consolas"/>
                <a:ea typeface="Consolas"/>
                <a:cs typeface="Consolas"/>
                <a:sym typeface="Consolas"/>
              </a:rPr>
              <a:t>// Load items here</a:t>
            </a:r>
            <a:b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Always call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super.initState()</a:t>
            </a:r>
            <a:r>
              <a:rPr lang="en-GB" sz="1700">
                <a:solidFill>
                  <a:schemeClr val="dk1"/>
                </a:solidFill>
              </a:rPr>
              <a:t> first to let the parent class set up first.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After an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await</a:t>
            </a:r>
            <a:r>
              <a:rPr lang="en-GB" sz="1700">
                <a:solidFill>
                  <a:schemeClr val="dk1"/>
                </a:solidFill>
              </a:rPr>
              <a:t> call to the loader, you can check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mounted</a:t>
            </a:r>
            <a:r>
              <a:rPr lang="en-GB" sz="1700">
                <a:solidFill>
                  <a:schemeClr val="dk1"/>
                </a:solidFill>
              </a:rPr>
              <a:t> before calling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setState</a:t>
            </a:r>
            <a:r>
              <a:rPr lang="en-GB" sz="1700">
                <a:solidFill>
                  <a:schemeClr val="dk1"/>
                </a:solidFill>
              </a:rPr>
              <a:t>; the user may have navigated away from this page: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final</a:t>
            </a: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>
                <a:solidFill>
                  <a:srgbClr val="0086B3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&lt;Item&gt; items = </a:t>
            </a:r>
            <a:r>
              <a:rPr b="1"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await</a:t>
            </a: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loadItems();</a:t>
            </a:r>
            <a:b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(!mounted) {</a:t>
            </a:r>
            <a:b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setState(() {</a:t>
            </a:r>
            <a:b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_items = items;</a:t>
            </a:r>
            <a:b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More detail: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initState method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76" name="Google Shape;176;p36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F8FAFC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/>
              <a:t>Async load</a:t>
            </a:r>
            <a:endParaRPr b="1"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7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Loading and error states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82" name="Google Shape;182;p37"/>
          <p:cNvSpPr txBox="1"/>
          <p:nvPr/>
        </p:nvSpPr>
        <p:spPr>
          <a:xfrm>
            <a:off x="540000" y="1440000"/>
            <a:ext cx="5175000" cy="7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The screen tracks state using simple fields: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86B3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_loading = </a:t>
            </a:r>
            <a:r>
              <a:rPr b="1"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>
                <a:solidFill>
                  <a:srgbClr val="0086B3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_error = </a:t>
            </a:r>
            <a:r>
              <a:rPr lang="en-GB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''</a:t>
            </a: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>
                <a:solidFill>
                  <a:srgbClr val="0086B3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&lt;Item&gt; _items = &lt;Item&gt;[];</a:t>
            </a:r>
            <a:endParaRPr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build</a:t>
            </a:r>
            <a:r>
              <a:rPr lang="en-GB" sz="1700">
                <a:solidFill>
                  <a:schemeClr val="dk1"/>
                </a:solidFill>
              </a:rPr>
              <a:t> picks what to show based on state: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(_loading) {</a:t>
            </a:r>
            <a:b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CircularProgressIndicator();</a:t>
            </a:r>
            <a:b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(_error != </a:t>
            </a:r>
            <a:r>
              <a:rPr lang="en-GB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''</a:t>
            </a: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b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Text(_error);</a:t>
            </a:r>
            <a:b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Text(</a:t>
            </a:r>
            <a:r>
              <a:rPr lang="en-GB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${_items.length}</a:t>
            </a:r>
            <a:r>
              <a:rPr lang="en-GB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 items loaded'</a:t>
            </a: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You could add a progress bar too: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CircularProgressIndicator class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83" name="Google Shape;183;p37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F8FAFC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/>
              <a:t>Async load</a:t>
            </a:r>
            <a:endParaRPr b="1"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8"/>
          <p:cNvSpPr txBox="1"/>
          <p:nvPr>
            <p:ph idx="4294967295" type="title"/>
          </p:nvPr>
        </p:nvSpPr>
        <p:spPr>
          <a:xfrm>
            <a:off x="0" y="0"/>
            <a:ext cx="5715000" cy="8572500"/>
          </a:xfrm>
          <a:prstGeom prst="rect">
            <a:avLst/>
          </a:prstGeom>
          <a:solidFill>
            <a:srgbClr val="E5A93C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0000"/>
                </a:solidFill>
              </a:rPr>
              <a:t>Saved preferences</a:t>
            </a:r>
            <a:endParaRPr b="1" sz="2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9"/>
          <p:cNvSpPr txBox="1"/>
          <p:nvPr/>
        </p:nvSpPr>
        <p:spPr>
          <a:xfrm>
            <a:off x="540000" y="1440000"/>
            <a:ext cx="5175000" cy="60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Variables in memory are lost when the app closes.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One way to work around it is to </a:t>
            </a:r>
            <a:r>
              <a:rPr lang="en-GB" sz="1700">
                <a:solidFill>
                  <a:schemeClr val="dk1"/>
                </a:solidFill>
              </a:rPr>
              <a:t>write</a:t>
            </a:r>
            <a:r>
              <a:rPr lang="en-GB" sz="1700">
                <a:solidFill>
                  <a:schemeClr val="dk1"/>
                </a:solidFill>
              </a:rPr>
              <a:t> to files (e.g., update the JSON file).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There are alternatives.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shared_preferences</a:t>
            </a:r>
            <a:r>
              <a:rPr lang="en-GB" sz="1700">
                <a:solidFill>
                  <a:schemeClr val="dk1"/>
                </a:solidFill>
              </a:rPr>
              <a:t> saves lightweight values (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bool</a:t>
            </a:r>
            <a:r>
              <a:rPr lang="en-GB" sz="1700">
                <a:solidFill>
                  <a:schemeClr val="dk1"/>
                </a:solidFill>
              </a:rPr>
              <a:t>,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GB" sz="1700">
                <a:solidFill>
                  <a:schemeClr val="dk1"/>
                </a:solidFill>
              </a:rPr>
              <a:t>,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double</a:t>
            </a:r>
            <a:r>
              <a:rPr lang="en-GB" sz="1700">
                <a:solidFill>
                  <a:schemeClr val="dk1"/>
                </a:solidFill>
              </a:rPr>
              <a:t>,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en-GB" sz="1700">
                <a:solidFill>
                  <a:schemeClr val="dk1"/>
                </a:solidFill>
              </a:rPr>
              <a:t>,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List&lt;String&gt;</a:t>
            </a:r>
            <a:r>
              <a:rPr lang="en-GB" sz="1700">
                <a:solidFill>
                  <a:schemeClr val="dk1"/>
                </a:solidFill>
              </a:rPr>
              <a:t>) under string keys across app restarts.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Not intended for large datasets or sensitive credentials.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Ideal for app/user settings like dark mode.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94" name="Google Shape;194;p39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E5A93C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rgbClr val="000000"/>
                </a:solidFill>
              </a:rPr>
              <a:t>Saved preferences</a:t>
            </a:r>
            <a:endParaRPr b="1" sz="2000">
              <a:solidFill>
                <a:srgbClr val="000000"/>
              </a:solidFill>
            </a:endParaRPr>
          </a:p>
        </p:txBody>
      </p:sp>
      <p:sp>
        <p:nvSpPr>
          <p:cNvPr id="195" name="Google Shape;195;p39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Key-value storage</a:t>
            </a:r>
            <a:endParaRPr sz="2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0"/>
          <p:cNvSpPr txBox="1"/>
          <p:nvPr/>
        </p:nvSpPr>
        <p:spPr>
          <a:xfrm>
            <a:off x="540000" y="1440000"/>
            <a:ext cx="5175000" cy="65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We use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SharedPreferencesAsync</a:t>
            </a:r>
            <a:r>
              <a:rPr lang="en-GB" sz="1700">
                <a:solidFill>
                  <a:schemeClr val="dk1"/>
                </a:solidFill>
              </a:rPr>
              <a:t>, the package's current API; every read and write is awaited.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Packages are third-party libraries (not in Flutter SDK) that we can install and use.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You install a package by </a:t>
            </a:r>
            <a:r>
              <a:rPr lang="en-GB" sz="1700">
                <a:solidFill>
                  <a:schemeClr val="dk1"/>
                </a:solidFill>
              </a:rPr>
              <a:t>entering</a:t>
            </a:r>
            <a:r>
              <a:rPr lang="en-GB" sz="1700">
                <a:solidFill>
                  <a:schemeClr val="dk1"/>
                </a:solidFill>
              </a:rPr>
              <a:t> in terminal: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flutter pub add &lt;package-name&gt;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In our case, we need to install this (this updates </a:t>
            </a:r>
            <a:r>
              <a:rPr lang="en-GB" sz="1700">
                <a:solidFill>
                  <a:schemeClr val="dk1"/>
                </a:solidFill>
              </a:rPr>
              <a:t>dependencies</a:t>
            </a:r>
            <a:r>
              <a:rPr lang="en-GB" sz="1700">
                <a:solidFill>
                  <a:schemeClr val="dk1"/>
                </a:solidFill>
              </a:rPr>
              <a:t> in pubspec):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flutter pub add shared_preferences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More details in: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Store key-value data on disk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01" name="Google Shape;201;p40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E5A93C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rgbClr val="000000"/>
                </a:solidFill>
              </a:rPr>
              <a:t>Saved preferences</a:t>
            </a:r>
            <a:endParaRPr b="1" sz="2000">
              <a:solidFill>
                <a:srgbClr val="000000"/>
              </a:solidFill>
            </a:endParaRPr>
          </a:p>
        </p:txBody>
      </p:sp>
      <p:sp>
        <p:nvSpPr>
          <p:cNvPr id="202" name="Google Shape;202;p40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Key-value storage</a:t>
            </a:r>
            <a:endParaRPr sz="2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1"/>
          <p:cNvSpPr txBox="1"/>
          <p:nvPr/>
        </p:nvSpPr>
        <p:spPr>
          <a:xfrm>
            <a:off x="540000" y="1440000"/>
            <a:ext cx="5175000" cy="63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Access the store asynchronously to save and read values: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final</a:t>
            </a:r>
            <a: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SharedPreferencesAsync prefs =</a:t>
            </a:r>
            <a:b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SharedPreferencesAsync();</a:t>
            </a:r>
            <a:b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await</a:t>
            </a:r>
            <a: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prefs.setString(</a:t>
            </a:r>
            <a:r>
              <a:rPr lang="en-GB" sz="1300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'username'</a:t>
            </a:r>
            <a: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GB" sz="1300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'Anton'</a:t>
            </a:r>
            <a: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b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final</a:t>
            </a:r>
            <a: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300">
                <a:solidFill>
                  <a:srgbClr val="0086B3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? name = </a:t>
            </a:r>
            <a:r>
              <a:rPr b="1"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await</a:t>
            </a:r>
            <a: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prefs.getString(</a:t>
            </a:r>
            <a:r>
              <a:rPr lang="en-GB" sz="1300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'username'</a:t>
            </a:r>
            <a:r>
              <a:rPr lang="en-GB" sz="13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getString</a:t>
            </a:r>
            <a:r>
              <a:rPr lang="en-GB" sz="1700">
                <a:solidFill>
                  <a:schemeClr val="dk1"/>
                </a:solidFill>
              </a:rPr>
              <a:t> returns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en-GB" sz="1700">
                <a:solidFill>
                  <a:schemeClr val="dk1"/>
                </a:solidFill>
              </a:rPr>
              <a:t> if nothing has been stored under that key yet; provide a default fallback value.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In unit tests, use an in-memory store from </a:t>
            </a:r>
            <a:r>
              <a:rPr lang="en-GB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shared_preferences_platform_interface</a:t>
            </a:r>
            <a:r>
              <a:rPr lang="en-GB" sz="1700">
                <a:solidFill>
                  <a:schemeClr val="dk1"/>
                </a:solidFill>
              </a:rPr>
              <a:t> to isolate tests: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SharedPreferencesAsyncPlatform.instance =</a:t>
            </a:r>
            <a:b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InMemorySharedPreferencesAsync.withData(</a:t>
            </a:r>
            <a:b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&lt;</a:t>
            </a:r>
            <a:r>
              <a:rPr lang="en-GB">
                <a:solidFill>
                  <a:srgbClr val="0086B3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GB">
                <a:solidFill>
                  <a:srgbClr val="0086B3"/>
                </a:solidFill>
                <a:latin typeface="Consolas"/>
                <a:ea typeface="Consolas"/>
                <a:cs typeface="Consolas"/>
                <a:sym typeface="Consolas"/>
              </a:rPr>
              <a:t>Object</a:t>
            </a: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&gt;{</a:t>
            </a:r>
            <a:r>
              <a:rPr lang="en-GB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'username'</a:t>
            </a: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GB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'Anton'</a:t>
            </a: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},</a:t>
            </a:r>
            <a:b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);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8" name="Google Shape;208;p41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E5A93C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rgbClr val="000000"/>
                </a:solidFill>
              </a:rPr>
              <a:t>Saved preferences</a:t>
            </a:r>
            <a:endParaRPr b="1" sz="2000">
              <a:solidFill>
                <a:srgbClr val="000000"/>
              </a:solidFill>
            </a:endParaRPr>
          </a:p>
        </p:txBody>
      </p:sp>
      <p:sp>
        <p:nvSpPr>
          <p:cNvPr id="209" name="Google Shape;209;p41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Key-value storage</a:t>
            </a:r>
            <a:endParaRPr sz="2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2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/>
              <a:t>Live coding</a:t>
            </a:r>
            <a:endParaRPr/>
          </a:p>
        </p:txBody>
      </p:sp>
      <p:sp>
        <p:nvSpPr>
          <p:cNvPr id="215" name="Google Shape;215;p42"/>
          <p:cNvSpPr txBox="1"/>
          <p:nvPr>
            <p:ph idx="1" type="body"/>
          </p:nvPr>
        </p:nvSpPr>
        <p:spPr>
          <a:xfrm>
            <a:off x="194825" y="1920800"/>
            <a:ext cx="5435400" cy="5694000"/>
          </a:xfrm>
          <a:prstGeom prst="rect">
            <a:avLst/>
          </a:prstGeom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-33655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Resolving pull request conflicts across multiple files on GitHub. 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Before, we resolved conflicts in VS Code and introduced pull requests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Here we’ll resolve conflicts in a shared GitHub pull request.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GitHub's guide: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Resolving a merge conflict on GitHub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3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/>
              <a:t>Demo 3</a:t>
            </a:r>
            <a:endParaRPr/>
          </a:p>
        </p:txBody>
      </p:sp>
      <p:sp>
        <p:nvSpPr>
          <p:cNvPr id="221" name="Google Shape;221;p43"/>
          <p:cNvSpPr txBox="1"/>
          <p:nvPr>
            <p:ph idx="1" type="body"/>
          </p:nvPr>
        </p:nvSpPr>
        <p:spPr>
          <a:xfrm>
            <a:off x="194825" y="1920800"/>
            <a:ext cx="5435400" cy="5694000"/>
          </a:xfrm>
          <a:prstGeom prst="rect">
            <a:avLst/>
          </a:prstGeom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-33655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Union of Worksheet 5 and Worksheet 6 exercises: navigation, a basket, a profile form, and saved preferences.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- Demonstrate in your own timetabled practical session.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- You can only do one demo in each window.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More information on the web page: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manighahrmani.github.io/sandwich_shop/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4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/>
              <a:t>Module feedback</a:t>
            </a:r>
            <a:endParaRPr/>
          </a:p>
        </p:txBody>
      </p:sp>
      <p:sp>
        <p:nvSpPr>
          <p:cNvPr id="227" name="Google Shape;227;p44"/>
          <p:cNvSpPr txBox="1"/>
          <p:nvPr>
            <p:ph idx="1" type="body"/>
          </p:nvPr>
        </p:nvSpPr>
        <p:spPr>
          <a:xfrm>
            <a:off x="194825" y="1920800"/>
            <a:ext cx="5435400" cy="5694000"/>
          </a:xfrm>
          <a:prstGeom prst="rect">
            <a:avLst/>
          </a:prstGeom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-33655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Give us your feedback, comments, criticisms, or insults by filling out the following form.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It’s anonymous; you need to sign in via your student account, but your details aren’t recorded.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Use this link or the QR code: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forms.cloud.microsoft/e/88jd4UGAui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500"/>
              </a:spcAft>
              <a:buNone/>
            </a:pPr>
            <a:r>
              <a:t/>
            </a:r>
            <a:endParaRPr/>
          </a:p>
        </p:txBody>
      </p:sp>
      <p:pic>
        <p:nvPicPr>
          <p:cNvPr id="228" name="Google Shape;228;p44" title="QRCode for Flutter Module Feedback For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3638" y="4635875"/>
            <a:ext cx="3297776" cy="329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FF5733"/>
      </a:accent3>
      <a:accent4>
        <a:srgbClr val="34D1BF"/>
      </a:accent4>
      <a:accent5>
        <a:srgbClr val="F9E79F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
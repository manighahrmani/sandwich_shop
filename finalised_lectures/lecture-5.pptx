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8572500" cx="5715000"/>
  <p:notesSz cx="6858000" cy="9144000"/>
  <p:embeddedFontLst>
    <p:embeddedFont>
      <p:font typeface="Roboto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700">
          <p15:clr>
            <a:srgbClr val="A4A3A4"/>
          </p15:clr>
        </p15:guide>
        <p15:guide id="2" pos="340">
          <p15:clr>
            <a:srgbClr val="A4A3A4"/>
          </p15:clr>
        </p15:guide>
        <p15:guide id="3" pos="227">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ni Gh"/>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700" orient="horz"/>
        <p:guide pos="340"/>
        <p:guide pos="227"/>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2.xml"/><Relationship Id="rId26" Type="http://schemas.openxmlformats.org/officeDocument/2006/relationships/font" Target="fonts/RobotoMono-bold.fntdata"/><Relationship Id="rId25" Type="http://schemas.openxmlformats.org/officeDocument/2006/relationships/font" Target="fonts/RobotoMono-regular.fntdata"/><Relationship Id="rId28" Type="http://schemas.openxmlformats.org/officeDocument/2006/relationships/font" Target="fonts/RobotoMono-boldItalic.fntdata"/><Relationship Id="rId27" Type="http://schemas.openxmlformats.org/officeDocument/2006/relationships/font" Target="fonts/RobotoMono-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23:08:06.401">
    <p:pos x="340" y="907"/>
    <p:text>Or packages like go_route
https://pub.dev/packages/go_route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5T23:45:23.515">
    <p:pos x="340" y="907"/>
    <p:text>Classes have constructors.
Named constructors are of the format where "name" can be any name:
ClassName.name();
Class members are marked private if they start with an underscore. So private named constructors that are hidden (no one can construct this class).
The name "internal" is just a convention; you can use any name.
And "instance" is the only member that is public, that already holds an instance of the class (made using the named constructor).
Everyone can and should only use instance.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a6b21d61a4_1_237: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a6b21d61a4_1_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a922a615a_1_5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a922a615a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3c6607f17795faeb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3c6607f17795fae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6cbbed88ae68736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6cbbed88ae68736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6cbbed88ae687368_0_33: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6cbbed88ae68736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h6cbbed88ae687368_0_4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h6cbbed88ae687368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6cbbed88ae687368_0_6: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6cbbed88ae68736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25f7524da5d_0_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25f7524da5d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a6b21d61a4_1_5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a6b21d61a4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6cbbed88ae687368_0_2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h6cbbed88ae68736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h1f755145b02bb3d7_0_8: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h1f755145b02bb3d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a922a615a_1_1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a922a615a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a922a615a_1_4: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fa922a615a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6cbbed88ae687368_0_27: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h6cbbed88ae68736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8e576364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8e57636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 On GitHub, create an empty public repository called </a:t>
            </a:r>
            <a:r>
              <a:rPr lang="en-GB">
                <a:solidFill>
                  <a:srgbClr val="188038"/>
                </a:solidFill>
                <a:latin typeface="Roboto Mono"/>
                <a:ea typeface="Roboto Mono"/>
                <a:cs typeface="Roboto Mono"/>
                <a:sym typeface="Roboto Mono"/>
              </a:rPr>
              <a:t>pr-demo</a:t>
            </a:r>
            <a:r>
              <a:rPr lang="en-GB"/>
              <a:t> (no README).</a:t>
            </a:r>
            <a:endParaRPr/>
          </a:p>
          <a:p>
            <a:pPr indent="0" lvl="0" marL="0" rtl="0" algn="l">
              <a:spcBef>
                <a:spcPts val="0"/>
              </a:spcBef>
              <a:spcAft>
                <a:spcPts val="0"/>
              </a:spcAft>
              <a:buNone/>
            </a:pPr>
            <a:r>
              <a:rPr lang="en-GB"/>
              <a:t>Create a fresh throwaway local repository and push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mkdir pr-demo &amp;&amp; cd pr-demo</a:t>
            </a:r>
            <a:endParaRPr/>
          </a:p>
          <a:p>
            <a:pPr indent="0" lvl="0" marL="0" rtl="0" algn="l">
              <a:spcBef>
                <a:spcPts val="0"/>
              </a:spcBef>
              <a:spcAft>
                <a:spcPts val="0"/>
              </a:spcAft>
              <a:buNone/>
            </a:pPr>
            <a:r>
              <a:rPr lang="en-GB"/>
              <a:t>    git init -b main</a:t>
            </a:r>
            <a:endParaRPr/>
          </a:p>
          <a:p>
            <a:pPr indent="0" lvl="0" marL="0" rtl="0" algn="l">
              <a:spcBef>
                <a:spcPts val="0"/>
              </a:spcBef>
              <a:spcAft>
                <a:spcPts val="0"/>
              </a:spcAft>
              <a:buNone/>
            </a:pPr>
            <a:r>
              <a:rPr lang="en-GB"/>
              <a:t>    echo "Hello"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greeting"</a:t>
            </a:r>
            <a:endParaRPr/>
          </a:p>
          <a:p>
            <a:pPr indent="0" lvl="0" marL="0" rtl="0" algn="l">
              <a:spcBef>
                <a:spcPts val="0"/>
              </a:spcBef>
              <a:spcAft>
                <a:spcPts val="0"/>
              </a:spcAft>
              <a:buNone/>
            </a:pPr>
            <a:r>
              <a:rPr lang="en-GB"/>
              <a:t>    git remote add origin https://github.com/YOUR-USERNAME/pr-demo.git</a:t>
            </a:r>
            <a:endParaRPr/>
          </a:p>
          <a:p>
            <a:pPr indent="0" lvl="0" marL="0" rtl="0" algn="l">
              <a:spcBef>
                <a:spcPts val="0"/>
              </a:spcBef>
              <a:spcAft>
                <a:spcPts val="0"/>
              </a:spcAft>
              <a:buNone/>
            </a:pPr>
            <a:r>
              <a:rPr lang="en-GB"/>
              <a:t>    git push -u origin main</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Create a branch and change the file on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-b improve-greeting</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improve greeting"</a:t>
            </a:r>
            <a:endParaRPr/>
          </a:p>
          <a:p>
            <a:pPr indent="0" lvl="0" marL="0" rtl="0" algn="l">
              <a:spcBef>
                <a:spcPts val="0"/>
              </a:spcBef>
              <a:spcAft>
                <a:spcPts val="0"/>
              </a:spcAft>
              <a:buNone/>
            </a:pPr>
            <a:r>
              <a:rPr lang="en-GB"/>
              <a:t>    git push -u origin improve-greeting</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On GitHub, select Compare &amp; pull request.</a:t>
            </a:r>
            <a:endParaRPr/>
          </a:p>
          <a:p>
            <a:pPr indent="0" lvl="0" marL="0" rtl="0" algn="l">
              <a:spcBef>
                <a:spcPts val="0"/>
              </a:spcBef>
              <a:spcAft>
                <a:spcPts val="0"/>
              </a:spcAft>
              <a:buNone/>
            </a:pPr>
            <a:r>
              <a:rPr lang="en-GB"/>
              <a:t>See that the base is </a:t>
            </a:r>
            <a:r>
              <a:rPr lang="en-GB">
                <a:solidFill>
                  <a:srgbClr val="188038"/>
                </a:solidFill>
                <a:latin typeface="Roboto Mono"/>
                <a:ea typeface="Roboto Mono"/>
                <a:cs typeface="Roboto Mono"/>
                <a:sym typeface="Roboto Mono"/>
              </a:rPr>
              <a:t>main</a:t>
            </a:r>
            <a:r>
              <a:rPr lang="en-GB"/>
              <a:t> and the compare branch is </a:t>
            </a:r>
            <a:r>
              <a:rPr lang="en-GB">
                <a:solidFill>
                  <a:srgbClr val="188038"/>
                </a:solidFill>
                <a:latin typeface="Roboto Mono"/>
                <a:ea typeface="Roboto Mono"/>
                <a:cs typeface="Roboto Mono"/>
                <a:sym typeface="Roboto Mono"/>
              </a:rPr>
              <a:t>improve-greeting</a:t>
            </a:r>
            <a:r>
              <a:rPr lang="en-GB"/>
              <a:t>.</a:t>
            </a:r>
            <a:endParaRPr/>
          </a:p>
          <a:p>
            <a:pPr indent="0" lvl="0" marL="0" rtl="0" algn="l">
              <a:spcBef>
                <a:spcPts val="0"/>
              </a:spcBef>
              <a:spcAft>
                <a:spcPts val="0"/>
              </a:spcAft>
              <a:buNone/>
            </a:pPr>
            <a:r>
              <a:rPr lang="en-GB"/>
              <a:t>Add a short title and description, then select Create pull request.</a:t>
            </a:r>
            <a:endParaRPr/>
          </a:p>
          <a:p>
            <a:pPr indent="0" lvl="0" marL="0" rtl="0" algn="l">
              <a:spcBef>
                <a:spcPts val="0"/>
              </a:spcBef>
              <a:spcAft>
                <a:spcPts val="0"/>
              </a:spcAft>
              <a:buNone/>
            </a:pPr>
            <a:r>
              <a:rPr lang="en-GB"/>
              <a:t>Note that opening a pull request does not change </a:t>
            </a:r>
            <a:r>
              <a:rPr lang="en-GB">
                <a:solidFill>
                  <a:srgbClr val="188038"/>
                </a:solidFill>
                <a:latin typeface="Roboto Mono"/>
                <a:ea typeface="Roboto Mono"/>
                <a:cs typeface="Roboto Mono"/>
                <a:sym typeface="Roboto Mono"/>
              </a:rPr>
              <a:t>main</a:t>
            </a:r>
            <a:r>
              <a:rPr lang="en-GB"/>
              <a:t>.</a:t>
            </a:r>
            <a:endParaRPr/>
          </a:p>
          <a:p>
            <a:pPr indent="0" lvl="0" marL="0" rtl="0" algn="l">
              <a:spcBef>
                <a:spcPts val="0"/>
              </a:spcBef>
              <a:spcAft>
                <a:spcPts val="0"/>
              </a:spcAft>
              <a:buNone/>
            </a:pPr>
            <a:r>
              <a:rPr lang="en-GB"/>
              <a:t>See that </a:t>
            </a:r>
            <a:r>
              <a:rPr lang="en-GB">
                <a:solidFill>
                  <a:srgbClr val="188038"/>
                </a:solidFill>
                <a:latin typeface="Roboto Mono"/>
                <a:ea typeface="Roboto Mono"/>
                <a:cs typeface="Roboto Mono"/>
                <a:sym typeface="Roboto Mono"/>
              </a:rPr>
              <a:t>greeting.txt</a:t>
            </a:r>
            <a:r>
              <a:rPr lang="en-GB"/>
              <a:t> on </a:t>
            </a:r>
            <a:r>
              <a:rPr lang="en-GB">
                <a:solidFill>
                  <a:srgbClr val="188038"/>
                </a:solidFill>
                <a:latin typeface="Roboto Mono"/>
                <a:ea typeface="Roboto Mono"/>
                <a:cs typeface="Roboto Mono"/>
                <a:sym typeface="Roboto Mono"/>
              </a:rPr>
              <a:t>main</a:t>
            </a:r>
            <a:r>
              <a:rPr lang="en-GB"/>
              <a:t> still says "Hello".</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Open the Files changed tab and leave a comment on the changed line, for example "Add a full stop".</a:t>
            </a:r>
            <a:endParaRPr/>
          </a:p>
          <a:p>
            <a:pPr indent="0" lvl="0" marL="0" rtl="0" algn="l">
              <a:spcBef>
                <a:spcPts val="0"/>
              </a:spcBef>
              <a:spcAft>
                <a:spcPts val="0"/>
              </a:spcAft>
              <a:buNone/>
            </a:pPr>
            <a:r>
              <a:rPr lang="en-GB"/>
              <a:t>Fix the issue mentioned in this comment on the same branch and push again: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full stop to greeting"</a:t>
            </a:r>
            <a:endParaRPr/>
          </a:p>
          <a:p>
            <a:pPr indent="0" lvl="0" marL="0" rtl="0" algn="l">
              <a:spcBef>
                <a:spcPts val="0"/>
              </a:spcBef>
              <a:spcAft>
                <a:spcPts val="0"/>
              </a:spcAft>
              <a:buNone/>
            </a:pPr>
            <a:r>
              <a:rPr lang="en-GB"/>
              <a:t>    git push</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See </a:t>
            </a:r>
            <a:r>
              <a:rPr lang="en-GB"/>
              <a:t>that the new commit appears in the same pull request; there is no need to open another one.</a:t>
            </a:r>
            <a:endParaRPr/>
          </a:p>
          <a:p>
            <a:pPr indent="0" lvl="0" marL="0" rtl="0" algn="l">
              <a:spcBef>
                <a:spcPts val="0"/>
              </a:spcBef>
              <a:spcAft>
                <a:spcPts val="0"/>
              </a:spcAft>
              <a:buNone/>
            </a:pPr>
            <a:r>
              <a:rPr lang="en-GB"/>
              <a:t>Select Merge pull request, then Confirm merge.</a:t>
            </a:r>
            <a:endParaRPr/>
          </a:p>
          <a:p>
            <a:pPr indent="0" lvl="0" marL="0" rtl="0" algn="l">
              <a:spcBef>
                <a:spcPts val="0"/>
              </a:spcBef>
              <a:spcAft>
                <a:spcPts val="0"/>
              </a:spcAft>
              <a:buNone/>
            </a:pPr>
            <a:r>
              <a:rPr lang="en-GB"/>
              <a:t>Update the local copy and show the history:</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main</a:t>
            </a:r>
            <a:endParaRPr/>
          </a:p>
          <a:p>
            <a:pPr indent="0" lvl="0" marL="0" rtl="0" algn="l">
              <a:spcBef>
                <a:spcPts val="0"/>
              </a:spcBef>
              <a:spcAft>
                <a:spcPts val="0"/>
              </a:spcAft>
              <a:buNone/>
            </a:pPr>
            <a:r>
              <a:rPr lang="en-GB"/>
              <a:t>    git pull</a:t>
            </a:r>
            <a:endParaRPr/>
          </a:p>
          <a:p>
            <a:pPr indent="0" lvl="0" marL="0" rtl="0" algn="l">
              <a:spcBef>
                <a:spcPts val="0"/>
              </a:spcBef>
              <a:spcAft>
                <a:spcPts val="0"/>
              </a:spcAft>
              <a:buNone/>
            </a:pPr>
            <a:r>
              <a:rPr lang="en-GB"/>
              <a:t>    git log --oneline --graph --all</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summary, </a:t>
            </a:r>
            <a:r>
              <a:rPr lang="en-GB"/>
              <a:t>merging on GitHub does not change your local copy until you pull.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1eddc00e62debbeb_5_1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1eddc00e62debbeb_5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ba8f7da0b_1_9: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ba8f7da0b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194818" y="1240958"/>
            <a:ext cx="5325300" cy="34209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194813" y="4723542"/>
            <a:ext cx="5325300" cy="1320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194813" y="3584750"/>
            <a:ext cx="5325300" cy="14031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194813" y="1920792"/>
            <a:ext cx="5325300" cy="5694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194813"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3020250"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194813" y="926000"/>
            <a:ext cx="1755000" cy="12594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194813" y="2316000"/>
            <a:ext cx="1755000" cy="529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306406" y="750250"/>
            <a:ext cx="3979800" cy="68181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2857500" y="-208"/>
            <a:ext cx="2857500" cy="8572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165938" y="2055292"/>
            <a:ext cx="2528100" cy="24705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165938" y="4671792"/>
            <a:ext cx="2528100" cy="2058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3087188" y="1206792"/>
            <a:ext cx="2398200" cy="61584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194813" y="7050958"/>
            <a:ext cx="3749400" cy="10086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194813" y="1843542"/>
            <a:ext cx="5325300" cy="32724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194813" y="5253708"/>
            <a:ext cx="5325300" cy="21681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194818" y="1240958"/>
            <a:ext cx="5325300" cy="34209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5000"/>
              <a:buNone/>
              <a:defRPr sz="5000"/>
            </a:lvl1pPr>
            <a:lvl2pPr lvl="1" rtl="0" algn="ctr">
              <a:spcBef>
                <a:spcPts val="0"/>
              </a:spcBef>
              <a:spcAft>
                <a:spcPts val="0"/>
              </a:spcAft>
              <a:buSzPts val="5000"/>
              <a:buNone/>
              <a:defRPr sz="5000"/>
            </a:lvl2pPr>
            <a:lvl3pPr lvl="2" rtl="0" algn="ctr">
              <a:spcBef>
                <a:spcPts val="0"/>
              </a:spcBef>
              <a:spcAft>
                <a:spcPts val="0"/>
              </a:spcAft>
              <a:buSzPts val="5000"/>
              <a:buNone/>
              <a:defRPr sz="5000"/>
            </a:lvl3pPr>
            <a:lvl4pPr lvl="3" rtl="0" algn="ctr">
              <a:spcBef>
                <a:spcPts val="0"/>
              </a:spcBef>
              <a:spcAft>
                <a:spcPts val="0"/>
              </a:spcAft>
              <a:buSzPts val="5000"/>
              <a:buNone/>
              <a:defRPr sz="5000"/>
            </a:lvl4pPr>
            <a:lvl5pPr lvl="4" rtl="0" algn="ctr">
              <a:spcBef>
                <a:spcPts val="0"/>
              </a:spcBef>
              <a:spcAft>
                <a:spcPts val="0"/>
              </a:spcAft>
              <a:buSzPts val="5000"/>
              <a:buNone/>
              <a:defRPr sz="5000"/>
            </a:lvl5pPr>
            <a:lvl6pPr lvl="5" rtl="0" algn="ctr">
              <a:spcBef>
                <a:spcPts val="0"/>
              </a:spcBef>
              <a:spcAft>
                <a:spcPts val="0"/>
              </a:spcAft>
              <a:buSzPts val="5000"/>
              <a:buNone/>
              <a:defRPr sz="5000"/>
            </a:lvl6pPr>
            <a:lvl7pPr lvl="6" rtl="0" algn="ctr">
              <a:spcBef>
                <a:spcPts val="0"/>
              </a:spcBef>
              <a:spcAft>
                <a:spcPts val="0"/>
              </a:spcAft>
              <a:buSzPts val="5000"/>
              <a:buNone/>
              <a:defRPr sz="5000"/>
            </a:lvl7pPr>
            <a:lvl8pPr lvl="7" rtl="0" algn="ctr">
              <a:spcBef>
                <a:spcPts val="0"/>
              </a:spcBef>
              <a:spcAft>
                <a:spcPts val="0"/>
              </a:spcAft>
              <a:buSzPts val="5000"/>
              <a:buNone/>
              <a:defRPr sz="5000"/>
            </a:lvl8pPr>
            <a:lvl9pPr lvl="8" rtl="0" algn="ctr">
              <a:spcBef>
                <a:spcPts val="0"/>
              </a:spcBef>
              <a:spcAft>
                <a:spcPts val="0"/>
              </a:spcAft>
              <a:buSzPts val="5000"/>
              <a:buNone/>
              <a:defRPr sz="5000"/>
            </a:lvl9pPr>
          </a:lstStyle>
          <a:p/>
        </p:txBody>
      </p:sp>
      <p:sp>
        <p:nvSpPr>
          <p:cNvPr id="56" name="Google Shape;56;p14"/>
          <p:cNvSpPr txBox="1"/>
          <p:nvPr>
            <p:ph idx="1" type="subTitle"/>
          </p:nvPr>
        </p:nvSpPr>
        <p:spPr>
          <a:xfrm>
            <a:off x="194813" y="4723542"/>
            <a:ext cx="5325300" cy="13209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700"/>
              <a:buNone/>
              <a:defRPr sz="2700"/>
            </a:lvl1pPr>
            <a:lvl2pPr lvl="1" rtl="0" algn="ctr">
              <a:lnSpc>
                <a:spcPct val="100000"/>
              </a:lnSpc>
              <a:spcBef>
                <a:spcPts val="0"/>
              </a:spcBef>
              <a:spcAft>
                <a:spcPts val="0"/>
              </a:spcAft>
              <a:buSzPts val="2700"/>
              <a:buNone/>
              <a:defRPr sz="2700"/>
            </a:lvl2pPr>
            <a:lvl3pPr lvl="2" rtl="0" algn="ctr">
              <a:lnSpc>
                <a:spcPct val="100000"/>
              </a:lnSpc>
              <a:spcBef>
                <a:spcPts val="0"/>
              </a:spcBef>
              <a:spcAft>
                <a:spcPts val="0"/>
              </a:spcAft>
              <a:buSzPts val="2700"/>
              <a:buNone/>
              <a:defRPr sz="2700"/>
            </a:lvl3pPr>
            <a:lvl4pPr lvl="3" rtl="0" algn="ctr">
              <a:lnSpc>
                <a:spcPct val="100000"/>
              </a:lnSpc>
              <a:spcBef>
                <a:spcPts val="0"/>
              </a:spcBef>
              <a:spcAft>
                <a:spcPts val="0"/>
              </a:spcAft>
              <a:buSzPts val="2700"/>
              <a:buNone/>
              <a:defRPr sz="2700"/>
            </a:lvl4pPr>
            <a:lvl5pPr lvl="4" rtl="0" algn="ctr">
              <a:lnSpc>
                <a:spcPct val="100000"/>
              </a:lnSpc>
              <a:spcBef>
                <a:spcPts val="0"/>
              </a:spcBef>
              <a:spcAft>
                <a:spcPts val="0"/>
              </a:spcAft>
              <a:buSzPts val="2700"/>
              <a:buNone/>
              <a:defRPr sz="2700"/>
            </a:lvl5pPr>
            <a:lvl6pPr lvl="5" rtl="0" algn="ctr">
              <a:lnSpc>
                <a:spcPct val="100000"/>
              </a:lnSpc>
              <a:spcBef>
                <a:spcPts val="0"/>
              </a:spcBef>
              <a:spcAft>
                <a:spcPts val="0"/>
              </a:spcAft>
              <a:buSzPts val="2700"/>
              <a:buNone/>
              <a:defRPr sz="2700"/>
            </a:lvl6pPr>
            <a:lvl7pPr lvl="6" rtl="0" algn="ctr">
              <a:lnSpc>
                <a:spcPct val="100000"/>
              </a:lnSpc>
              <a:spcBef>
                <a:spcPts val="0"/>
              </a:spcBef>
              <a:spcAft>
                <a:spcPts val="0"/>
              </a:spcAft>
              <a:buSzPts val="2700"/>
              <a:buNone/>
              <a:defRPr sz="2700"/>
            </a:lvl7pPr>
            <a:lvl8pPr lvl="7" rtl="0" algn="ctr">
              <a:lnSpc>
                <a:spcPct val="100000"/>
              </a:lnSpc>
              <a:spcBef>
                <a:spcPts val="0"/>
              </a:spcBef>
              <a:spcAft>
                <a:spcPts val="0"/>
              </a:spcAft>
              <a:buSzPts val="2700"/>
              <a:buNone/>
              <a:defRPr sz="2700"/>
            </a:lvl8pPr>
            <a:lvl9pPr lvl="8" rtl="0" algn="ctr">
              <a:lnSpc>
                <a:spcPct val="100000"/>
              </a:lnSpc>
              <a:spcBef>
                <a:spcPts val="0"/>
              </a:spcBef>
              <a:spcAft>
                <a:spcPts val="0"/>
              </a:spcAft>
              <a:buSzPts val="2700"/>
              <a:buNone/>
              <a:defRPr sz="2700"/>
            </a:lvl9pPr>
          </a:lstStyle>
          <a:p/>
        </p:txBody>
      </p:sp>
      <p:sp>
        <p:nvSpPr>
          <p:cNvPr id="57" name="Google Shape;57;p1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194813" y="3584750"/>
            <a:ext cx="5325300" cy="1403100"/>
          </a:xfrm>
          <a:prstGeom prst="rect">
            <a:avLst/>
          </a:prstGeom>
        </p:spPr>
        <p:txBody>
          <a:bodyPr anchorCtr="0" anchor="ctr" bIns="88875" lIns="88875" spcFirstLastPara="1" rIns="88875" wrap="square" tIns="88875">
            <a:noAutofit/>
          </a:bodyPr>
          <a:lstStyle>
            <a:lvl1pPr lvl="0" rtl="0" algn="ctr">
              <a:spcBef>
                <a:spcPts val="0"/>
              </a:spcBef>
              <a:spcAft>
                <a:spcPts val="0"/>
              </a:spcAft>
              <a:buSzPts val="3500"/>
              <a:buNone/>
              <a:defRPr sz="3500"/>
            </a:lvl1pPr>
            <a:lvl2pPr lvl="1" rtl="0" algn="ctr">
              <a:spcBef>
                <a:spcPts val="0"/>
              </a:spcBef>
              <a:spcAft>
                <a:spcPts val="0"/>
              </a:spcAft>
              <a:buSzPts val="3500"/>
              <a:buNone/>
              <a:defRPr sz="3500"/>
            </a:lvl2pPr>
            <a:lvl3pPr lvl="2" rtl="0" algn="ctr">
              <a:spcBef>
                <a:spcPts val="0"/>
              </a:spcBef>
              <a:spcAft>
                <a:spcPts val="0"/>
              </a:spcAft>
              <a:buSzPts val="3500"/>
              <a:buNone/>
              <a:defRPr sz="3500"/>
            </a:lvl3pPr>
            <a:lvl4pPr lvl="3" rtl="0" algn="ctr">
              <a:spcBef>
                <a:spcPts val="0"/>
              </a:spcBef>
              <a:spcAft>
                <a:spcPts val="0"/>
              </a:spcAft>
              <a:buSzPts val="3500"/>
              <a:buNone/>
              <a:defRPr sz="3500"/>
            </a:lvl4pPr>
            <a:lvl5pPr lvl="4" rtl="0" algn="ctr">
              <a:spcBef>
                <a:spcPts val="0"/>
              </a:spcBef>
              <a:spcAft>
                <a:spcPts val="0"/>
              </a:spcAft>
              <a:buSzPts val="3500"/>
              <a:buNone/>
              <a:defRPr sz="3500"/>
            </a:lvl5pPr>
            <a:lvl6pPr lvl="5" rtl="0" algn="ctr">
              <a:spcBef>
                <a:spcPts val="0"/>
              </a:spcBef>
              <a:spcAft>
                <a:spcPts val="0"/>
              </a:spcAft>
              <a:buSzPts val="3500"/>
              <a:buNone/>
              <a:defRPr sz="3500"/>
            </a:lvl6pPr>
            <a:lvl7pPr lvl="6" rtl="0" algn="ctr">
              <a:spcBef>
                <a:spcPts val="0"/>
              </a:spcBef>
              <a:spcAft>
                <a:spcPts val="0"/>
              </a:spcAft>
              <a:buSzPts val="3500"/>
              <a:buNone/>
              <a:defRPr sz="3500"/>
            </a:lvl7pPr>
            <a:lvl8pPr lvl="7" rtl="0" algn="ctr">
              <a:spcBef>
                <a:spcPts val="0"/>
              </a:spcBef>
              <a:spcAft>
                <a:spcPts val="0"/>
              </a:spcAft>
              <a:buSzPts val="3500"/>
              <a:buNone/>
              <a:defRPr sz="3500"/>
            </a:lvl8pPr>
            <a:lvl9pPr lvl="8" rtl="0" algn="ctr">
              <a:spcBef>
                <a:spcPts val="0"/>
              </a:spcBef>
              <a:spcAft>
                <a:spcPts val="0"/>
              </a:spcAft>
              <a:buSzPts val="3500"/>
              <a:buNone/>
              <a:defRPr sz="3500"/>
            </a:lvl9pPr>
          </a:lstStyle>
          <a:p/>
        </p:txBody>
      </p:sp>
      <p:sp>
        <p:nvSpPr>
          <p:cNvPr id="60" name="Google Shape;60;p15"/>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3" name="Google Shape;63;p16"/>
          <p:cNvSpPr txBox="1"/>
          <p:nvPr>
            <p:ph idx="1" type="body"/>
          </p:nvPr>
        </p:nvSpPr>
        <p:spPr>
          <a:xfrm>
            <a:off x="194813" y="1920792"/>
            <a:ext cx="5325300" cy="5694000"/>
          </a:xfrm>
          <a:prstGeom prst="rect">
            <a:avLst/>
          </a:prstGeom>
        </p:spPr>
        <p:txBody>
          <a:bodyPr anchorCtr="0" anchor="t"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64" name="Google Shape;64;p16"/>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7" name="Google Shape;67;p17"/>
          <p:cNvSpPr txBox="1"/>
          <p:nvPr>
            <p:ph idx="1" type="body"/>
          </p:nvPr>
        </p:nvSpPr>
        <p:spPr>
          <a:xfrm>
            <a:off x="194813"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8" name="Google Shape;68;p17"/>
          <p:cNvSpPr txBox="1"/>
          <p:nvPr>
            <p:ph idx="2" type="body"/>
          </p:nvPr>
        </p:nvSpPr>
        <p:spPr>
          <a:xfrm>
            <a:off x="3020250"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9" name="Google Shape;69;p17"/>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72" name="Google Shape;72;p18"/>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194813" y="926000"/>
            <a:ext cx="1755000" cy="1259400"/>
          </a:xfrm>
          <a:prstGeom prst="rect">
            <a:avLst/>
          </a:prstGeom>
        </p:spPr>
        <p:txBody>
          <a:bodyPr anchorCtr="0" anchor="b" bIns="88875" lIns="88875" spcFirstLastPara="1" rIns="88875" wrap="square" tIns="88875">
            <a:noAutofit/>
          </a:bodyPr>
          <a:lstStyle>
            <a:lvl1pPr lvl="0" rtl="0">
              <a:spcBef>
                <a:spcPts val="0"/>
              </a:spcBef>
              <a:spcAft>
                <a:spcPts val="0"/>
              </a:spcAft>
              <a:buSzPts val="2300"/>
              <a:buNone/>
              <a:defRPr sz="2300"/>
            </a:lvl1pPr>
            <a:lvl2pPr lvl="1" rtl="0">
              <a:spcBef>
                <a:spcPts val="0"/>
              </a:spcBef>
              <a:spcAft>
                <a:spcPts val="0"/>
              </a:spcAft>
              <a:buSzPts val="2300"/>
              <a:buNone/>
              <a:defRPr sz="2300"/>
            </a:lvl2pPr>
            <a:lvl3pPr lvl="2" rtl="0">
              <a:spcBef>
                <a:spcPts val="0"/>
              </a:spcBef>
              <a:spcAft>
                <a:spcPts val="0"/>
              </a:spcAft>
              <a:buSzPts val="2300"/>
              <a:buNone/>
              <a:defRPr sz="2300"/>
            </a:lvl3pPr>
            <a:lvl4pPr lvl="3" rtl="0">
              <a:spcBef>
                <a:spcPts val="0"/>
              </a:spcBef>
              <a:spcAft>
                <a:spcPts val="0"/>
              </a:spcAft>
              <a:buSzPts val="2300"/>
              <a:buNone/>
              <a:defRPr sz="2300"/>
            </a:lvl4pPr>
            <a:lvl5pPr lvl="4" rtl="0">
              <a:spcBef>
                <a:spcPts val="0"/>
              </a:spcBef>
              <a:spcAft>
                <a:spcPts val="0"/>
              </a:spcAft>
              <a:buSzPts val="2300"/>
              <a:buNone/>
              <a:defRPr sz="2300"/>
            </a:lvl5pPr>
            <a:lvl6pPr lvl="5" rtl="0">
              <a:spcBef>
                <a:spcPts val="0"/>
              </a:spcBef>
              <a:spcAft>
                <a:spcPts val="0"/>
              </a:spcAft>
              <a:buSzPts val="2300"/>
              <a:buNone/>
              <a:defRPr sz="2300"/>
            </a:lvl6pPr>
            <a:lvl7pPr lvl="6" rtl="0">
              <a:spcBef>
                <a:spcPts val="0"/>
              </a:spcBef>
              <a:spcAft>
                <a:spcPts val="0"/>
              </a:spcAft>
              <a:buSzPts val="2300"/>
              <a:buNone/>
              <a:defRPr sz="2300"/>
            </a:lvl7pPr>
            <a:lvl8pPr lvl="7" rtl="0">
              <a:spcBef>
                <a:spcPts val="0"/>
              </a:spcBef>
              <a:spcAft>
                <a:spcPts val="0"/>
              </a:spcAft>
              <a:buSzPts val="2300"/>
              <a:buNone/>
              <a:defRPr sz="2300"/>
            </a:lvl8pPr>
            <a:lvl9pPr lvl="8" rtl="0">
              <a:spcBef>
                <a:spcPts val="0"/>
              </a:spcBef>
              <a:spcAft>
                <a:spcPts val="0"/>
              </a:spcAft>
              <a:buSzPts val="2300"/>
              <a:buNone/>
              <a:defRPr sz="2300"/>
            </a:lvl9pPr>
          </a:lstStyle>
          <a:p/>
        </p:txBody>
      </p:sp>
      <p:sp>
        <p:nvSpPr>
          <p:cNvPr id="75" name="Google Shape;75;p19"/>
          <p:cNvSpPr txBox="1"/>
          <p:nvPr>
            <p:ph idx="1" type="body"/>
          </p:nvPr>
        </p:nvSpPr>
        <p:spPr>
          <a:xfrm>
            <a:off x="194813" y="2316000"/>
            <a:ext cx="1755000" cy="5298900"/>
          </a:xfrm>
          <a:prstGeom prst="rect">
            <a:avLst/>
          </a:prstGeom>
        </p:spPr>
        <p:txBody>
          <a:bodyPr anchorCtr="0" anchor="t" bIns="88875" lIns="88875" spcFirstLastPara="1" rIns="88875" wrap="square" tIns="88875">
            <a:noAutofit/>
          </a:bodyPr>
          <a:lstStyle>
            <a:lvl1pPr indent="-304800" lvl="0" marL="457200" rtl="0">
              <a:spcBef>
                <a:spcPts val="0"/>
              </a:spcBef>
              <a:spcAft>
                <a:spcPts val="0"/>
              </a:spcAft>
              <a:buSzPts val="1200"/>
              <a:buChar char="●"/>
              <a:defRPr sz="12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76" name="Google Shape;76;p19"/>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306406" y="750250"/>
            <a:ext cx="3979800" cy="6818100"/>
          </a:xfrm>
          <a:prstGeom prst="rect">
            <a:avLst/>
          </a:prstGeom>
        </p:spPr>
        <p:txBody>
          <a:bodyPr anchorCtr="0" anchor="ctr" bIns="88875" lIns="88875" spcFirstLastPara="1" rIns="88875" wrap="square" tIns="88875">
            <a:noAutofit/>
          </a:bodyPr>
          <a:lstStyle>
            <a:lvl1pPr lvl="0" rtl="0">
              <a:spcBef>
                <a:spcPts val="0"/>
              </a:spcBef>
              <a:spcAft>
                <a:spcPts val="0"/>
              </a:spcAft>
              <a:buSzPts val="4700"/>
              <a:buNone/>
              <a:defRPr sz="4700"/>
            </a:lvl1pPr>
            <a:lvl2pPr lvl="1" rtl="0">
              <a:spcBef>
                <a:spcPts val="0"/>
              </a:spcBef>
              <a:spcAft>
                <a:spcPts val="0"/>
              </a:spcAft>
              <a:buSzPts val="4700"/>
              <a:buNone/>
              <a:defRPr sz="4700"/>
            </a:lvl2pPr>
            <a:lvl3pPr lvl="2" rtl="0">
              <a:spcBef>
                <a:spcPts val="0"/>
              </a:spcBef>
              <a:spcAft>
                <a:spcPts val="0"/>
              </a:spcAft>
              <a:buSzPts val="4700"/>
              <a:buNone/>
              <a:defRPr sz="4700"/>
            </a:lvl3pPr>
            <a:lvl4pPr lvl="3" rtl="0">
              <a:spcBef>
                <a:spcPts val="0"/>
              </a:spcBef>
              <a:spcAft>
                <a:spcPts val="0"/>
              </a:spcAft>
              <a:buSzPts val="4700"/>
              <a:buNone/>
              <a:defRPr sz="4700"/>
            </a:lvl4pPr>
            <a:lvl5pPr lvl="4" rtl="0">
              <a:spcBef>
                <a:spcPts val="0"/>
              </a:spcBef>
              <a:spcAft>
                <a:spcPts val="0"/>
              </a:spcAft>
              <a:buSzPts val="4700"/>
              <a:buNone/>
              <a:defRPr sz="4700"/>
            </a:lvl5pPr>
            <a:lvl6pPr lvl="5" rtl="0">
              <a:spcBef>
                <a:spcPts val="0"/>
              </a:spcBef>
              <a:spcAft>
                <a:spcPts val="0"/>
              </a:spcAft>
              <a:buSzPts val="4700"/>
              <a:buNone/>
              <a:defRPr sz="4700"/>
            </a:lvl6pPr>
            <a:lvl7pPr lvl="6" rtl="0">
              <a:spcBef>
                <a:spcPts val="0"/>
              </a:spcBef>
              <a:spcAft>
                <a:spcPts val="0"/>
              </a:spcAft>
              <a:buSzPts val="4700"/>
              <a:buNone/>
              <a:defRPr sz="4700"/>
            </a:lvl7pPr>
            <a:lvl8pPr lvl="7" rtl="0">
              <a:spcBef>
                <a:spcPts val="0"/>
              </a:spcBef>
              <a:spcAft>
                <a:spcPts val="0"/>
              </a:spcAft>
              <a:buSzPts val="4700"/>
              <a:buNone/>
              <a:defRPr sz="4700"/>
            </a:lvl8pPr>
            <a:lvl9pPr lvl="8" rtl="0">
              <a:spcBef>
                <a:spcPts val="0"/>
              </a:spcBef>
              <a:spcAft>
                <a:spcPts val="0"/>
              </a:spcAft>
              <a:buSzPts val="4700"/>
              <a:buNone/>
              <a:defRPr sz="4700"/>
            </a:lvl9pPr>
          </a:lstStyle>
          <a:p/>
        </p:txBody>
      </p:sp>
      <p:sp>
        <p:nvSpPr>
          <p:cNvPr id="79" name="Google Shape;79;p20"/>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2857500" y="-208"/>
            <a:ext cx="2857500" cy="8572500"/>
          </a:xfrm>
          <a:prstGeom prst="rect">
            <a:avLst/>
          </a:prstGeom>
          <a:solidFill>
            <a:schemeClr val="lt2"/>
          </a:solidFill>
          <a:ln>
            <a:noFill/>
          </a:ln>
        </p:spPr>
        <p:txBody>
          <a:bodyPr anchorCtr="0" anchor="ctr" bIns="88875" lIns="88875" spcFirstLastPara="1" rIns="88875" wrap="square" tIns="88875">
            <a:noAutofit/>
          </a:bodyPr>
          <a:lstStyle/>
          <a:p>
            <a:pPr indent="0" lvl="0" marL="0" rtl="0" algn="l">
              <a:spcBef>
                <a:spcPts val="0"/>
              </a:spcBef>
              <a:spcAft>
                <a:spcPts val="0"/>
              </a:spcAft>
              <a:buNone/>
            </a:pPr>
            <a:r>
              <a:t/>
            </a:r>
            <a:endParaRPr/>
          </a:p>
        </p:txBody>
      </p:sp>
      <p:sp>
        <p:nvSpPr>
          <p:cNvPr id="82" name="Google Shape;82;p21"/>
          <p:cNvSpPr txBox="1"/>
          <p:nvPr>
            <p:ph type="title"/>
          </p:nvPr>
        </p:nvSpPr>
        <p:spPr>
          <a:xfrm>
            <a:off x="165938" y="2055292"/>
            <a:ext cx="2528400" cy="24705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4100"/>
              <a:buNone/>
              <a:defRPr sz="4100"/>
            </a:lvl1pPr>
            <a:lvl2pPr lvl="1" rtl="0" algn="ctr">
              <a:spcBef>
                <a:spcPts val="0"/>
              </a:spcBef>
              <a:spcAft>
                <a:spcPts val="0"/>
              </a:spcAft>
              <a:buSzPts val="4100"/>
              <a:buNone/>
              <a:defRPr sz="4100"/>
            </a:lvl2pPr>
            <a:lvl3pPr lvl="2" rtl="0" algn="ctr">
              <a:spcBef>
                <a:spcPts val="0"/>
              </a:spcBef>
              <a:spcAft>
                <a:spcPts val="0"/>
              </a:spcAft>
              <a:buSzPts val="4100"/>
              <a:buNone/>
              <a:defRPr sz="4100"/>
            </a:lvl3pPr>
            <a:lvl4pPr lvl="3" rtl="0" algn="ctr">
              <a:spcBef>
                <a:spcPts val="0"/>
              </a:spcBef>
              <a:spcAft>
                <a:spcPts val="0"/>
              </a:spcAft>
              <a:buSzPts val="4100"/>
              <a:buNone/>
              <a:defRPr sz="4100"/>
            </a:lvl4pPr>
            <a:lvl5pPr lvl="4" rtl="0" algn="ctr">
              <a:spcBef>
                <a:spcPts val="0"/>
              </a:spcBef>
              <a:spcAft>
                <a:spcPts val="0"/>
              </a:spcAft>
              <a:buSzPts val="4100"/>
              <a:buNone/>
              <a:defRPr sz="4100"/>
            </a:lvl5pPr>
            <a:lvl6pPr lvl="5" rtl="0" algn="ctr">
              <a:spcBef>
                <a:spcPts val="0"/>
              </a:spcBef>
              <a:spcAft>
                <a:spcPts val="0"/>
              </a:spcAft>
              <a:buSzPts val="4100"/>
              <a:buNone/>
              <a:defRPr sz="4100"/>
            </a:lvl6pPr>
            <a:lvl7pPr lvl="6" rtl="0" algn="ctr">
              <a:spcBef>
                <a:spcPts val="0"/>
              </a:spcBef>
              <a:spcAft>
                <a:spcPts val="0"/>
              </a:spcAft>
              <a:buSzPts val="4100"/>
              <a:buNone/>
              <a:defRPr sz="4100"/>
            </a:lvl7pPr>
            <a:lvl8pPr lvl="7" rtl="0" algn="ctr">
              <a:spcBef>
                <a:spcPts val="0"/>
              </a:spcBef>
              <a:spcAft>
                <a:spcPts val="0"/>
              </a:spcAft>
              <a:buSzPts val="4100"/>
              <a:buNone/>
              <a:defRPr sz="4100"/>
            </a:lvl8pPr>
            <a:lvl9pPr lvl="8" rtl="0" algn="ctr">
              <a:spcBef>
                <a:spcPts val="0"/>
              </a:spcBef>
              <a:spcAft>
                <a:spcPts val="0"/>
              </a:spcAft>
              <a:buSzPts val="4100"/>
              <a:buNone/>
              <a:defRPr sz="4100"/>
            </a:lvl9pPr>
          </a:lstStyle>
          <a:p/>
        </p:txBody>
      </p:sp>
      <p:sp>
        <p:nvSpPr>
          <p:cNvPr id="83" name="Google Shape;83;p21"/>
          <p:cNvSpPr txBox="1"/>
          <p:nvPr>
            <p:ph idx="1" type="subTitle"/>
          </p:nvPr>
        </p:nvSpPr>
        <p:spPr>
          <a:xfrm>
            <a:off x="165938" y="4671792"/>
            <a:ext cx="2528400" cy="20586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000"/>
              <a:buNone/>
              <a:defRPr sz="2000"/>
            </a:lvl1pPr>
            <a:lvl2pPr lvl="1" rtl="0" algn="ctr">
              <a:lnSpc>
                <a:spcPct val="100000"/>
              </a:lnSpc>
              <a:spcBef>
                <a:spcPts val="0"/>
              </a:spcBef>
              <a:spcAft>
                <a:spcPts val="0"/>
              </a:spcAft>
              <a:buSzPts val="2000"/>
              <a:buNone/>
              <a:defRPr sz="2000"/>
            </a:lvl2pPr>
            <a:lvl3pPr lvl="2" rtl="0" algn="ctr">
              <a:lnSpc>
                <a:spcPct val="100000"/>
              </a:lnSpc>
              <a:spcBef>
                <a:spcPts val="0"/>
              </a:spcBef>
              <a:spcAft>
                <a:spcPts val="0"/>
              </a:spcAft>
              <a:buSzPts val="2000"/>
              <a:buNone/>
              <a:defRPr sz="2000"/>
            </a:lvl3pPr>
            <a:lvl4pPr lvl="3" rtl="0" algn="ctr">
              <a:lnSpc>
                <a:spcPct val="100000"/>
              </a:lnSpc>
              <a:spcBef>
                <a:spcPts val="0"/>
              </a:spcBef>
              <a:spcAft>
                <a:spcPts val="0"/>
              </a:spcAft>
              <a:buSzPts val="2000"/>
              <a:buNone/>
              <a:defRPr sz="2000"/>
            </a:lvl4pPr>
            <a:lvl5pPr lvl="4" rtl="0" algn="ctr">
              <a:lnSpc>
                <a:spcPct val="100000"/>
              </a:lnSpc>
              <a:spcBef>
                <a:spcPts val="0"/>
              </a:spcBef>
              <a:spcAft>
                <a:spcPts val="0"/>
              </a:spcAft>
              <a:buSzPts val="2000"/>
              <a:buNone/>
              <a:defRPr sz="2000"/>
            </a:lvl5pPr>
            <a:lvl6pPr lvl="5" rtl="0" algn="ctr">
              <a:lnSpc>
                <a:spcPct val="100000"/>
              </a:lnSpc>
              <a:spcBef>
                <a:spcPts val="0"/>
              </a:spcBef>
              <a:spcAft>
                <a:spcPts val="0"/>
              </a:spcAft>
              <a:buSzPts val="2000"/>
              <a:buNone/>
              <a:defRPr sz="2000"/>
            </a:lvl6pPr>
            <a:lvl7pPr lvl="6" rtl="0" algn="ctr">
              <a:lnSpc>
                <a:spcPct val="100000"/>
              </a:lnSpc>
              <a:spcBef>
                <a:spcPts val="0"/>
              </a:spcBef>
              <a:spcAft>
                <a:spcPts val="0"/>
              </a:spcAft>
              <a:buSzPts val="2000"/>
              <a:buNone/>
              <a:defRPr sz="2000"/>
            </a:lvl7pPr>
            <a:lvl8pPr lvl="7" rtl="0" algn="ctr">
              <a:lnSpc>
                <a:spcPct val="100000"/>
              </a:lnSpc>
              <a:spcBef>
                <a:spcPts val="0"/>
              </a:spcBef>
              <a:spcAft>
                <a:spcPts val="0"/>
              </a:spcAft>
              <a:buSzPts val="2000"/>
              <a:buNone/>
              <a:defRPr sz="2000"/>
            </a:lvl8pPr>
            <a:lvl9pPr lvl="8" rtl="0" algn="ctr">
              <a:lnSpc>
                <a:spcPct val="100000"/>
              </a:lnSpc>
              <a:spcBef>
                <a:spcPts val="0"/>
              </a:spcBef>
              <a:spcAft>
                <a:spcPts val="0"/>
              </a:spcAft>
              <a:buSzPts val="2000"/>
              <a:buNone/>
              <a:defRPr sz="2000"/>
            </a:lvl9pPr>
          </a:lstStyle>
          <a:p/>
        </p:txBody>
      </p:sp>
      <p:sp>
        <p:nvSpPr>
          <p:cNvPr id="84" name="Google Shape;84;p21"/>
          <p:cNvSpPr txBox="1"/>
          <p:nvPr>
            <p:ph idx="2" type="body"/>
          </p:nvPr>
        </p:nvSpPr>
        <p:spPr>
          <a:xfrm>
            <a:off x="3087188" y="1206792"/>
            <a:ext cx="2398200" cy="6158400"/>
          </a:xfrm>
          <a:prstGeom prst="rect">
            <a:avLst/>
          </a:prstGeom>
        </p:spPr>
        <p:txBody>
          <a:bodyPr anchorCtr="0" anchor="ctr"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85" name="Google Shape;85;p21"/>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194813" y="7050958"/>
            <a:ext cx="3749400" cy="1008600"/>
          </a:xfrm>
          <a:prstGeom prst="rect">
            <a:avLst/>
          </a:prstGeom>
        </p:spPr>
        <p:txBody>
          <a:bodyPr anchorCtr="0" anchor="ctr" bIns="88875" lIns="88875" spcFirstLastPara="1" rIns="88875" wrap="square" tIns="88875">
            <a:noAutofit/>
          </a:bodyPr>
          <a:lstStyle>
            <a:lvl1pPr indent="-228600" lvl="0" marL="457200" rtl="0">
              <a:lnSpc>
                <a:spcPct val="100000"/>
              </a:lnSpc>
              <a:spcBef>
                <a:spcPts val="0"/>
              </a:spcBef>
              <a:spcAft>
                <a:spcPts val="0"/>
              </a:spcAft>
              <a:buSzPts val="1800"/>
              <a:buNone/>
              <a:defRPr/>
            </a:lvl1pPr>
          </a:lstStyle>
          <a:p/>
        </p:txBody>
      </p:sp>
      <p:sp>
        <p:nvSpPr>
          <p:cNvPr id="88" name="Google Shape;88;p22"/>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194813" y="1843542"/>
            <a:ext cx="5325300" cy="32724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11700"/>
              <a:buNone/>
              <a:defRPr sz="11700"/>
            </a:lvl1pPr>
            <a:lvl2pPr lvl="1" rtl="0" algn="ctr">
              <a:spcBef>
                <a:spcPts val="0"/>
              </a:spcBef>
              <a:spcAft>
                <a:spcPts val="0"/>
              </a:spcAft>
              <a:buSzPts val="11700"/>
              <a:buNone/>
              <a:defRPr sz="11700"/>
            </a:lvl2pPr>
            <a:lvl3pPr lvl="2" rtl="0" algn="ctr">
              <a:spcBef>
                <a:spcPts val="0"/>
              </a:spcBef>
              <a:spcAft>
                <a:spcPts val="0"/>
              </a:spcAft>
              <a:buSzPts val="11700"/>
              <a:buNone/>
              <a:defRPr sz="11700"/>
            </a:lvl3pPr>
            <a:lvl4pPr lvl="3" rtl="0" algn="ctr">
              <a:spcBef>
                <a:spcPts val="0"/>
              </a:spcBef>
              <a:spcAft>
                <a:spcPts val="0"/>
              </a:spcAft>
              <a:buSzPts val="11700"/>
              <a:buNone/>
              <a:defRPr sz="11700"/>
            </a:lvl4pPr>
            <a:lvl5pPr lvl="4" rtl="0" algn="ctr">
              <a:spcBef>
                <a:spcPts val="0"/>
              </a:spcBef>
              <a:spcAft>
                <a:spcPts val="0"/>
              </a:spcAft>
              <a:buSzPts val="11700"/>
              <a:buNone/>
              <a:defRPr sz="11700"/>
            </a:lvl5pPr>
            <a:lvl6pPr lvl="5" rtl="0" algn="ctr">
              <a:spcBef>
                <a:spcPts val="0"/>
              </a:spcBef>
              <a:spcAft>
                <a:spcPts val="0"/>
              </a:spcAft>
              <a:buSzPts val="11700"/>
              <a:buNone/>
              <a:defRPr sz="11700"/>
            </a:lvl6pPr>
            <a:lvl7pPr lvl="6" rtl="0" algn="ctr">
              <a:spcBef>
                <a:spcPts val="0"/>
              </a:spcBef>
              <a:spcAft>
                <a:spcPts val="0"/>
              </a:spcAft>
              <a:buSzPts val="11700"/>
              <a:buNone/>
              <a:defRPr sz="11700"/>
            </a:lvl7pPr>
            <a:lvl8pPr lvl="7" rtl="0" algn="ctr">
              <a:spcBef>
                <a:spcPts val="0"/>
              </a:spcBef>
              <a:spcAft>
                <a:spcPts val="0"/>
              </a:spcAft>
              <a:buSzPts val="11700"/>
              <a:buNone/>
              <a:defRPr sz="11700"/>
            </a:lvl8pPr>
            <a:lvl9pPr lvl="8" rtl="0" algn="ctr">
              <a:spcBef>
                <a:spcPts val="0"/>
              </a:spcBef>
              <a:spcAft>
                <a:spcPts val="0"/>
              </a:spcAft>
              <a:buSzPts val="11700"/>
              <a:buNone/>
              <a:defRPr sz="11700"/>
            </a:lvl9pPr>
          </a:lstStyle>
          <a:p>
            <a:r>
              <a:t>xx%</a:t>
            </a:r>
          </a:p>
        </p:txBody>
      </p:sp>
      <p:sp>
        <p:nvSpPr>
          <p:cNvPr id="91" name="Google Shape;91;p23"/>
          <p:cNvSpPr txBox="1"/>
          <p:nvPr>
            <p:ph idx="1" type="body"/>
          </p:nvPr>
        </p:nvSpPr>
        <p:spPr>
          <a:xfrm>
            <a:off x="194813" y="5253708"/>
            <a:ext cx="5325300" cy="2168100"/>
          </a:xfrm>
          <a:prstGeom prst="rect">
            <a:avLst/>
          </a:prstGeom>
        </p:spPr>
        <p:txBody>
          <a:bodyPr anchorCtr="0" anchor="t" bIns="88875" lIns="88875" spcFirstLastPara="1" rIns="88875" wrap="square" tIns="88875">
            <a:noAutofit/>
          </a:bodyPr>
          <a:lstStyle>
            <a:lvl1pPr indent="-342900" lvl="0" marL="457200" rtl="0" algn="ctr">
              <a:spcBef>
                <a:spcPts val="0"/>
              </a:spcBef>
              <a:spcAft>
                <a:spcPts val="0"/>
              </a:spcAft>
              <a:buSzPts val="1800"/>
              <a:buChar char="●"/>
              <a:defRPr/>
            </a:lvl1pPr>
            <a:lvl2pPr indent="-317500" lvl="1" marL="914400" rtl="0" algn="ctr">
              <a:spcBef>
                <a:spcPts val="1500"/>
              </a:spcBef>
              <a:spcAft>
                <a:spcPts val="0"/>
              </a:spcAft>
              <a:buSzPts val="1400"/>
              <a:buChar char="○"/>
              <a:defRPr/>
            </a:lvl2pPr>
            <a:lvl3pPr indent="-317500" lvl="2" marL="1371600" rtl="0" algn="ctr">
              <a:spcBef>
                <a:spcPts val="1500"/>
              </a:spcBef>
              <a:spcAft>
                <a:spcPts val="0"/>
              </a:spcAft>
              <a:buSzPts val="1400"/>
              <a:buChar char="■"/>
              <a:defRPr/>
            </a:lvl3pPr>
            <a:lvl4pPr indent="-317500" lvl="3" marL="1828800" rtl="0" algn="ctr">
              <a:spcBef>
                <a:spcPts val="1500"/>
              </a:spcBef>
              <a:spcAft>
                <a:spcPts val="0"/>
              </a:spcAft>
              <a:buSzPts val="1400"/>
              <a:buChar char="●"/>
              <a:defRPr/>
            </a:lvl4pPr>
            <a:lvl5pPr indent="-317500" lvl="4" marL="2286000" rtl="0" algn="ctr">
              <a:spcBef>
                <a:spcPts val="1500"/>
              </a:spcBef>
              <a:spcAft>
                <a:spcPts val="0"/>
              </a:spcAft>
              <a:buSzPts val="1400"/>
              <a:buChar char="○"/>
              <a:defRPr/>
            </a:lvl5pPr>
            <a:lvl6pPr indent="-317500" lvl="5" marL="2743200" rtl="0" algn="ctr">
              <a:spcBef>
                <a:spcPts val="1500"/>
              </a:spcBef>
              <a:spcAft>
                <a:spcPts val="0"/>
              </a:spcAft>
              <a:buSzPts val="1400"/>
              <a:buChar char="■"/>
              <a:defRPr/>
            </a:lvl6pPr>
            <a:lvl7pPr indent="-317500" lvl="6" marL="3200400" rtl="0" algn="ctr">
              <a:spcBef>
                <a:spcPts val="1500"/>
              </a:spcBef>
              <a:spcAft>
                <a:spcPts val="0"/>
              </a:spcAft>
              <a:buSzPts val="1400"/>
              <a:buChar char="●"/>
              <a:defRPr/>
            </a:lvl7pPr>
            <a:lvl8pPr indent="-317500" lvl="7" marL="3657600" rtl="0" algn="ctr">
              <a:spcBef>
                <a:spcPts val="1500"/>
              </a:spcBef>
              <a:spcAft>
                <a:spcPts val="0"/>
              </a:spcAft>
              <a:buSzPts val="1400"/>
              <a:buChar char="○"/>
              <a:defRPr/>
            </a:lvl8pPr>
            <a:lvl9pPr indent="-317500" lvl="8" marL="4114800" rtl="0" algn="ctr">
              <a:spcBef>
                <a:spcPts val="1500"/>
              </a:spcBef>
              <a:spcAft>
                <a:spcPts val="1500"/>
              </a:spcAft>
              <a:buSzPts val="1400"/>
              <a:buChar char="■"/>
              <a:defRPr/>
            </a:lvl9pPr>
          </a:lstStyle>
          <a:p/>
        </p:txBody>
      </p:sp>
      <p:sp>
        <p:nvSpPr>
          <p:cNvPr id="92" name="Google Shape;92;p23"/>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4813" y="741708"/>
            <a:ext cx="5325300" cy="9546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194813" y="1920792"/>
            <a:ext cx="5325300" cy="5694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5295286" y="7772028"/>
            <a:ext cx="342900" cy="6561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194813" y="741708"/>
            <a:ext cx="5325300" cy="954600"/>
          </a:xfrm>
          <a:prstGeom prst="rect">
            <a:avLst/>
          </a:prstGeom>
          <a:noFill/>
          <a:ln>
            <a:noFill/>
          </a:ln>
        </p:spPr>
        <p:txBody>
          <a:bodyPr anchorCtr="0" anchor="t" bIns="88875" lIns="88875" spcFirstLastPara="1" rIns="88875" wrap="square" tIns="88875">
            <a:noAutofit/>
          </a:bodyPr>
          <a:lstStyle>
            <a:lvl1pPr lvl="0" rtl="0">
              <a:spcBef>
                <a:spcPts val="0"/>
              </a:spcBef>
              <a:spcAft>
                <a:spcPts val="0"/>
              </a:spcAft>
              <a:buClr>
                <a:schemeClr val="dk1"/>
              </a:buClr>
              <a:buSzPts val="2700"/>
              <a:buNone/>
              <a:defRPr sz="2700">
                <a:solidFill>
                  <a:schemeClr val="dk1"/>
                </a:solidFill>
              </a:defRPr>
            </a:lvl1pPr>
            <a:lvl2pPr lvl="1" rtl="0">
              <a:spcBef>
                <a:spcPts val="0"/>
              </a:spcBef>
              <a:spcAft>
                <a:spcPts val="0"/>
              </a:spcAft>
              <a:buClr>
                <a:schemeClr val="dk1"/>
              </a:buClr>
              <a:buSzPts val="2700"/>
              <a:buNone/>
              <a:defRPr sz="2700">
                <a:solidFill>
                  <a:schemeClr val="dk1"/>
                </a:solidFill>
              </a:defRPr>
            </a:lvl2pPr>
            <a:lvl3pPr lvl="2" rtl="0">
              <a:spcBef>
                <a:spcPts val="0"/>
              </a:spcBef>
              <a:spcAft>
                <a:spcPts val="0"/>
              </a:spcAft>
              <a:buClr>
                <a:schemeClr val="dk1"/>
              </a:buClr>
              <a:buSzPts val="2700"/>
              <a:buNone/>
              <a:defRPr sz="2700">
                <a:solidFill>
                  <a:schemeClr val="dk1"/>
                </a:solidFill>
              </a:defRPr>
            </a:lvl3pPr>
            <a:lvl4pPr lvl="3" rtl="0">
              <a:spcBef>
                <a:spcPts val="0"/>
              </a:spcBef>
              <a:spcAft>
                <a:spcPts val="0"/>
              </a:spcAft>
              <a:buClr>
                <a:schemeClr val="dk1"/>
              </a:buClr>
              <a:buSzPts val="2700"/>
              <a:buNone/>
              <a:defRPr sz="2700">
                <a:solidFill>
                  <a:schemeClr val="dk1"/>
                </a:solidFill>
              </a:defRPr>
            </a:lvl4pPr>
            <a:lvl5pPr lvl="4" rtl="0">
              <a:spcBef>
                <a:spcPts val="0"/>
              </a:spcBef>
              <a:spcAft>
                <a:spcPts val="0"/>
              </a:spcAft>
              <a:buClr>
                <a:schemeClr val="dk1"/>
              </a:buClr>
              <a:buSzPts val="2700"/>
              <a:buNone/>
              <a:defRPr sz="2700">
                <a:solidFill>
                  <a:schemeClr val="dk1"/>
                </a:solidFill>
              </a:defRPr>
            </a:lvl5pPr>
            <a:lvl6pPr lvl="5" rtl="0">
              <a:spcBef>
                <a:spcPts val="0"/>
              </a:spcBef>
              <a:spcAft>
                <a:spcPts val="0"/>
              </a:spcAft>
              <a:buClr>
                <a:schemeClr val="dk1"/>
              </a:buClr>
              <a:buSzPts val="2700"/>
              <a:buNone/>
              <a:defRPr sz="2700">
                <a:solidFill>
                  <a:schemeClr val="dk1"/>
                </a:solidFill>
              </a:defRPr>
            </a:lvl6pPr>
            <a:lvl7pPr lvl="6" rtl="0">
              <a:spcBef>
                <a:spcPts val="0"/>
              </a:spcBef>
              <a:spcAft>
                <a:spcPts val="0"/>
              </a:spcAft>
              <a:buClr>
                <a:schemeClr val="dk1"/>
              </a:buClr>
              <a:buSzPts val="2700"/>
              <a:buNone/>
              <a:defRPr sz="2700">
                <a:solidFill>
                  <a:schemeClr val="dk1"/>
                </a:solidFill>
              </a:defRPr>
            </a:lvl7pPr>
            <a:lvl8pPr lvl="7" rtl="0">
              <a:spcBef>
                <a:spcPts val="0"/>
              </a:spcBef>
              <a:spcAft>
                <a:spcPts val="0"/>
              </a:spcAft>
              <a:buClr>
                <a:schemeClr val="dk1"/>
              </a:buClr>
              <a:buSzPts val="2700"/>
              <a:buNone/>
              <a:defRPr sz="2700">
                <a:solidFill>
                  <a:schemeClr val="dk1"/>
                </a:solidFill>
              </a:defRPr>
            </a:lvl8pPr>
            <a:lvl9pPr lvl="8" rtl="0">
              <a:spcBef>
                <a:spcPts val="0"/>
              </a:spcBef>
              <a:spcAft>
                <a:spcPts val="0"/>
              </a:spcAft>
              <a:buClr>
                <a:schemeClr val="dk1"/>
              </a:buClr>
              <a:buSzPts val="2700"/>
              <a:buNone/>
              <a:defRPr sz="2700">
                <a:solidFill>
                  <a:schemeClr val="dk1"/>
                </a:solidFill>
              </a:defRPr>
            </a:lvl9pPr>
          </a:lstStyle>
          <a:p/>
        </p:txBody>
      </p:sp>
      <p:sp>
        <p:nvSpPr>
          <p:cNvPr id="52" name="Google Shape;52;p13"/>
          <p:cNvSpPr txBox="1"/>
          <p:nvPr>
            <p:ph idx="1" type="body"/>
          </p:nvPr>
        </p:nvSpPr>
        <p:spPr>
          <a:xfrm>
            <a:off x="194813" y="1920792"/>
            <a:ext cx="5325300" cy="5694000"/>
          </a:xfrm>
          <a:prstGeom prst="rect">
            <a:avLst/>
          </a:prstGeom>
          <a:noFill/>
          <a:ln>
            <a:noFill/>
          </a:ln>
        </p:spPr>
        <p:txBody>
          <a:bodyPr anchorCtr="0" anchor="t" bIns="88875" lIns="88875" spcFirstLastPara="1" rIns="88875" wrap="square" tIns="8887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500"/>
              </a:spcBef>
              <a:spcAft>
                <a:spcPts val="0"/>
              </a:spcAft>
              <a:buClr>
                <a:schemeClr val="dk2"/>
              </a:buClr>
              <a:buSzPts val="1400"/>
              <a:buChar char="○"/>
              <a:defRPr sz="1400">
                <a:solidFill>
                  <a:schemeClr val="dk2"/>
                </a:solidFill>
              </a:defRPr>
            </a:lvl2pPr>
            <a:lvl3pPr indent="-317500" lvl="2" marL="1371600" rtl="0">
              <a:lnSpc>
                <a:spcPct val="115000"/>
              </a:lnSpc>
              <a:spcBef>
                <a:spcPts val="1500"/>
              </a:spcBef>
              <a:spcAft>
                <a:spcPts val="0"/>
              </a:spcAft>
              <a:buClr>
                <a:schemeClr val="dk2"/>
              </a:buClr>
              <a:buSzPts val="1400"/>
              <a:buChar char="■"/>
              <a:defRPr sz="1400">
                <a:solidFill>
                  <a:schemeClr val="dk2"/>
                </a:solidFill>
              </a:defRPr>
            </a:lvl3pPr>
            <a:lvl4pPr indent="-317500" lvl="3" marL="1828800" rtl="0">
              <a:lnSpc>
                <a:spcPct val="115000"/>
              </a:lnSpc>
              <a:spcBef>
                <a:spcPts val="1500"/>
              </a:spcBef>
              <a:spcAft>
                <a:spcPts val="0"/>
              </a:spcAft>
              <a:buClr>
                <a:schemeClr val="dk2"/>
              </a:buClr>
              <a:buSzPts val="1400"/>
              <a:buChar char="●"/>
              <a:defRPr sz="1400">
                <a:solidFill>
                  <a:schemeClr val="dk2"/>
                </a:solidFill>
              </a:defRPr>
            </a:lvl4pPr>
            <a:lvl5pPr indent="-317500" lvl="4" marL="2286000" rtl="0">
              <a:lnSpc>
                <a:spcPct val="115000"/>
              </a:lnSpc>
              <a:spcBef>
                <a:spcPts val="1500"/>
              </a:spcBef>
              <a:spcAft>
                <a:spcPts val="0"/>
              </a:spcAft>
              <a:buClr>
                <a:schemeClr val="dk2"/>
              </a:buClr>
              <a:buSzPts val="1400"/>
              <a:buChar char="○"/>
              <a:defRPr sz="1400">
                <a:solidFill>
                  <a:schemeClr val="dk2"/>
                </a:solidFill>
              </a:defRPr>
            </a:lvl5pPr>
            <a:lvl6pPr indent="-317500" lvl="5" marL="2743200" rtl="0">
              <a:lnSpc>
                <a:spcPct val="115000"/>
              </a:lnSpc>
              <a:spcBef>
                <a:spcPts val="1500"/>
              </a:spcBef>
              <a:spcAft>
                <a:spcPts val="0"/>
              </a:spcAft>
              <a:buClr>
                <a:schemeClr val="dk2"/>
              </a:buClr>
              <a:buSzPts val="1400"/>
              <a:buChar char="■"/>
              <a:defRPr sz="1400">
                <a:solidFill>
                  <a:schemeClr val="dk2"/>
                </a:solidFill>
              </a:defRPr>
            </a:lvl6pPr>
            <a:lvl7pPr indent="-317500" lvl="6" marL="3200400" rtl="0">
              <a:lnSpc>
                <a:spcPct val="115000"/>
              </a:lnSpc>
              <a:spcBef>
                <a:spcPts val="1500"/>
              </a:spcBef>
              <a:spcAft>
                <a:spcPts val="0"/>
              </a:spcAft>
              <a:buClr>
                <a:schemeClr val="dk2"/>
              </a:buClr>
              <a:buSzPts val="1400"/>
              <a:buChar char="●"/>
              <a:defRPr sz="1400">
                <a:solidFill>
                  <a:schemeClr val="dk2"/>
                </a:solidFill>
              </a:defRPr>
            </a:lvl7pPr>
            <a:lvl8pPr indent="-317500" lvl="7" marL="3657600" rtl="0">
              <a:lnSpc>
                <a:spcPct val="115000"/>
              </a:lnSpc>
              <a:spcBef>
                <a:spcPts val="1500"/>
              </a:spcBef>
              <a:spcAft>
                <a:spcPts val="0"/>
              </a:spcAft>
              <a:buClr>
                <a:schemeClr val="dk2"/>
              </a:buClr>
              <a:buSzPts val="1400"/>
              <a:buChar char="○"/>
              <a:defRPr sz="1400">
                <a:solidFill>
                  <a:schemeClr val="dk2"/>
                </a:solidFill>
              </a:defRPr>
            </a:lvl8pPr>
            <a:lvl9pPr indent="-317500" lvl="8" marL="4114800" rtl="0">
              <a:lnSpc>
                <a:spcPct val="115000"/>
              </a:lnSpc>
              <a:spcBef>
                <a:spcPts val="1500"/>
              </a:spcBef>
              <a:spcAft>
                <a:spcPts val="1500"/>
              </a:spcAft>
              <a:buClr>
                <a:schemeClr val="dk2"/>
              </a:buClr>
              <a:buSzPts val="1400"/>
              <a:buChar char="■"/>
              <a:defRPr sz="1400">
                <a:solidFill>
                  <a:schemeClr val="dk2"/>
                </a:solidFill>
              </a:defRPr>
            </a:lvl9pPr>
          </a:lstStyle>
          <a:p/>
        </p:txBody>
      </p:sp>
      <p:sp>
        <p:nvSpPr>
          <p:cNvPr id="53" name="Google Shape;53;p13"/>
          <p:cNvSpPr txBox="1"/>
          <p:nvPr>
            <p:ph idx="12" type="sldNum"/>
          </p:nvPr>
        </p:nvSpPr>
        <p:spPr>
          <a:xfrm>
            <a:off x="5295286" y="7772028"/>
            <a:ext cx="342900" cy="656100"/>
          </a:xfrm>
          <a:prstGeom prst="rect">
            <a:avLst/>
          </a:prstGeom>
          <a:noFill/>
          <a:ln>
            <a:noFill/>
          </a:ln>
        </p:spPr>
        <p:txBody>
          <a:bodyPr anchorCtr="0" anchor="ctr" bIns="88875" lIns="88875" spcFirstLastPara="1" rIns="88875" wrap="square" tIns="8887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hyperlink" Target="http://aws.amazon.com/education/awseducate" TargetMode="External"/><Relationship Id="rId4" Type="http://schemas.openxmlformats.org/officeDocument/2006/relationships/hyperlink" Target="http://azure.microsoft.com/en-us/free/students" TargetMode="External"/><Relationship Id="rId5" Type="http://schemas.openxmlformats.org/officeDocument/2006/relationships/hyperlink" Target="https://githubuniverse.com" TargetMode="External"/><Relationship Id="rId6" Type="http://schemas.openxmlformats.org/officeDocument/2006/relationships/hyperlink" Target="https://githubuniverse.com" TargetMode="External"/><Relationship Id="rId7" Type="http://schemas.openxmlformats.org/officeDocument/2006/relationships/hyperlink" Target="https://www.tesco.com/careers/en-GB/our-teams/early-careers" TargetMode="External"/><Relationship Id="rId8" Type="http://schemas.openxmlformats.org/officeDocument/2006/relationships/hyperlink" Target="https://www.tesco.com/careers/en-GB/our-teams/early-career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hyperlink" Target="https://docs.flutter.dev/ui/navig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hyperlink" Target="https://docs.flutter.dev/ui/navigation#using-named-route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hyperlink" Target="https://docs.flutter.dev/data-and-backend/state-mgmt/ephemeral-vs-ap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omments" Target="../comments/commen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docs.flutter.dev/data-and-backend/state-mgmt/intr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hyperlink" Target="https://pub.dev/documentation/material_ui/latest/material_ui/TextField-class.html" TargetMode="External"/><Relationship Id="rId4" Type="http://schemas.openxmlformats.org/officeDocument/2006/relationships/hyperlink" Target="https://docs.flutter.dev/ui/widgets/materia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docs.flutter.dev/cookbook/forms/validati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hyperlink" Target="https://www.youtube.com/watch?v=LdSwWxVzUpo" TargetMode="External"/><Relationship Id="rId4" Type="http://schemas.openxmlformats.org/officeDocument/2006/relationships/hyperlink" Target="https://github.com/skills/review-pull-request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manighahrmani.github.io/sandwich_sho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hyperlink" Target="https://forms.cloud.microsoft/e/88jd4UGAui"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5"/>
          <p:cNvSpPr txBox="1"/>
          <p:nvPr>
            <p:ph idx="4294967295" type="title"/>
          </p:nvPr>
        </p:nvSpPr>
        <p:spPr>
          <a:xfrm>
            <a:off x="2501850" y="2857378"/>
            <a:ext cx="3213300" cy="2857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t>Shared state</a:t>
            </a:r>
            <a:endParaRPr b="1" sz="2000"/>
          </a:p>
        </p:txBody>
      </p:sp>
      <p:sp>
        <p:nvSpPr>
          <p:cNvPr id="100" name="Google Shape;100;p25"/>
          <p:cNvSpPr txBox="1"/>
          <p:nvPr>
            <p:ph type="ctrTitle"/>
          </p:nvPr>
        </p:nvSpPr>
        <p:spPr>
          <a:xfrm>
            <a:off x="99825" y="0"/>
            <a:ext cx="2321100" cy="4311000"/>
          </a:xfrm>
          <a:prstGeom prst="rect">
            <a:avLst/>
          </a:prstGeom>
        </p:spPr>
        <p:txBody>
          <a:bodyPr anchorCtr="0" anchor="ctr" bIns="88875" lIns="88875" spcFirstLastPara="1" rIns="88875" wrap="square" tIns="88875">
            <a:noAutofit/>
          </a:bodyPr>
          <a:lstStyle/>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b="1" lang="en-GB" sz="2300"/>
              <a:t>PAPL (M30235) UXDI (M32605)</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lang="en-GB" sz="2300"/>
              <a:t>Lecture 5</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rPr lang="en-GB" sz="2300"/>
              <a:t>Navigation, State and Forms</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t/>
            </a:r>
            <a:endParaRPr sz="2300"/>
          </a:p>
        </p:txBody>
      </p:sp>
      <p:sp>
        <p:nvSpPr>
          <p:cNvPr id="101" name="Google Shape;101;p25"/>
          <p:cNvSpPr txBox="1"/>
          <p:nvPr>
            <p:ph idx="4294967295" type="title"/>
          </p:nvPr>
        </p:nvSpPr>
        <p:spPr>
          <a:xfrm>
            <a:off x="2501850" y="-123"/>
            <a:ext cx="3213300" cy="2857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rgbClr val="FFFFFF"/>
                </a:solidFill>
              </a:rPr>
              <a:t>Navigation</a:t>
            </a:r>
            <a:endParaRPr b="1" sz="2000">
              <a:solidFill>
                <a:srgbClr val="FFFFFF"/>
              </a:solidFill>
            </a:endParaRPr>
          </a:p>
        </p:txBody>
      </p:sp>
      <p:sp>
        <p:nvSpPr>
          <p:cNvPr id="102" name="Google Shape;102;p25"/>
          <p:cNvSpPr txBox="1"/>
          <p:nvPr>
            <p:ph idx="4294967295" type="title"/>
          </p:nvPr>
        </p:nvSpPr>
        <p:spPr>
          <a:xfrm>
            <a:off x="2501850" y="5714878"/>
            <a:ext cx="3213300" cy="2857500"/>
          </a:xfrm>
          <a:prstGeom prst="rect">
            <a:avLst/>
          </a:prstGeom>
          <a:solidFill>
            <a:srgbClr val="581845"/>
          </a:solidFill>
          <a:ln>
            <a:noFill/>
          </a:ln>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pic>
        <p:nvPicPr>
          <p:cNvPr id="103" name="Google Shape;103;p25"/>
          <p:cNvPicPr preferRelativeResize="0"/>
          <p:nvPr/>
        </p:nvPicPr>
        <p:blipFill>
          <a:blip r:embed="rId3">
            <a:alphaModFix/>
          </a:blip>
          <a:stretch>
            <a:fillRect/>
          </a:stretch>
        </p:blipFill>
        <p:spPr>
          <a:xfrm>
            <a:off x="920305" y="6764586"/>
            <a:ext cx="680140" cy="75808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6"/>
          <p:cNvSpPr txBox="1"/>
          <p:nvPr>
            <p:ph idx="4294967295" type="title"/>
          </p:nvPr>
        </p:nvSpPr>
        <p:spPr>
          <a:xfrm>
            <a:off x="0" y="0"/>
            <a:ext cx="5715000" cy="8572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7"/>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14" name="Google Shape;114;p2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News?</a:t>
            </a:r>
            <a:endParaRPr sz="2800"/>
          </a:p>
          <a:p>
            <a:pPr indent="0" lvl="0" marL="0" rtl="0" algn="l">
              <a:spcBef>
                <a:spcPts val="0"/>
              </a:spcBef>
              <a:spcAft>
                <a:spcPts val="0"/>
              </a:spcAft>
              <a:buNone/>
            </a:pPr>
            <a:r>
              <a:t/>
            </a:r>
            <a:endParaRPr sz="2800"/>
          </a:p>
        </p:txBody>
      </p:sp>
      <p:sp>
        <p:nvSpPr>
          <p:cNvPr id="115" name="Google Shape;115;p27"/>
          <p:cNvSpPr txBox="1"/>
          <p:nvPr/>
        </p:nvSpPr>
        <p:spPr>
          <a:xfrm>
            <a:off x="540000" y="1440000"/>
            <a:ext cx="5175000" cy="69675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Cloud courses:</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AWS Educate: </a:t>
            </a:r>
            <a:r>
              <a:rPr lang="en-GB" sz="1700" u="sng">
                <a:solidFill>
                  <a:schemeClr val="hlink"/>
                </a:solidFill>
                <a:hlinkClick r:id="rId3"/>
              </a:rPr>
              <a:t>aws.amazon.com/education/awseducate</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Azure for students: </a:t>
            </a:r>
            <a:r>
              <a:rPr lang="en-GB" sz="1700" u="sng">
                <a:solidFill>
                  <a:schemeClr val="hlink"/>
                </a:solidFill>
                <a:hlinkClick r:id="rId4"/>
              </a:rPr>
              <a:t>azure.microsoft.com/en-us/free/students</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u="sng">
                <a:solidFill>
                  <a:schemeClr val="hlink"/>
                </a:solidFill>
                <a:hlinkClick r:id="rId5"/>
              </a:rPr>
              <a:t>GitHub Universe 2026</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Free virtual event (28–29 October); live keynotes, AI workflows, and workshops.</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Sign up at </a:t>
            </a:r>
            <a:r>
              <a:rPr lang="en-GB" sz="1700" u="sng">
                <a:solidFill>
                  <a:schemeClr val="hlink"/>
                </a:solidFill>
                <a:hlinkClick r:id="rId6"/>
              </a:rPr>
              <a:t>githubuniverse.com</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u="sng">
                <a:solidFill>
                  <a:schemeClr val="hlink"/>
                </a:solidFill>
                <a:hlinkClick r:id="rId7"/>
              </a:rPr>
              <a:t>Tesco Technology Early Careers</a:t>
            </a:r>
            <a:r>
              <a:rPr lang="en-GB" sz="1700">
                <a:solidFill>
                  <a:schemeClr val="dk1"/>
                </a:solidFill>
              </a:rPr>
              <a:t>:</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Internships and graduate schemes across software, data, and security.</a:t>
            </a:r>
            <a:endParaRPr sz="1700">
              <a:solidFill>
                <a:schemeClr val="dk1"/>
              </a:solidFill>
            </a:endParaRPr>
          </a:p>
          <a:p>
            <a:pPr indent="-336550" lvl="1" marL="914400" rtl="0" algn="l">
              <a:lnSpc>
                <a:spcPct val="150000"/>
              </a:lnSpc>
              <a:spcBef>
                <a:spcPts val="1000"/>
              </a:spcBef>
              <a:spcAft>
                <a:spcPts val="1000"/>
              </a:spcAft>
              <a:buClr>
                <a:schemeClr val="dk1"/>
              </a:buClr>
              <a:buSzPts val="1700"/>
              <a:buChar char="○"/>
            </a:pPr>
            <a:r>
              <a:rPr lang="en-GB" sz="1700">
                <a:solidFill>
                  <a:schemeClr val="dk1"/>
                </a:solidFill>
              </a:rPr>
              <a:t>Apply at: </a:t>
            </a:r>
            <a:r>
              <a:rPr lang="en-GB" sz="1700" u="sng">
                <a:solidFill>
                  <a:schemeClr val="hlink"/>
                </a:solidFill>
                <a:hlinkClick r:id="rId8"/>
              </a:rPr>
              <a:t>tesco.com/careers/en-GB/our-teams/early-careers</a:t>
            </a:r>
            <a:endParaRPr sz="17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8"/>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1" name="Google Shape;121;p2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Moving between screens</a:t>
            </a:r>
            <a:endParaRPr sz="2800"/>
          </a:p>
          <a:p>
            <a:pPr indent="0" lvl="0" marL="0" rtl="0" algn="l">
              <a:spcBef>
                <a:spcPts val="0"/>
              </a:spcBef>
              <a:spcAft>
                <a:spcPts val="0"/>
              </a:spcAft>
              <a:buNone/>
            </a:pPr>
            <a:r>
              <a:t/>
            </a:r>
            <a:endParaRPr sz="2800"/>
          </a:p>
        </p:txBody>
      </p:sp>
      <p:sp>
        <p:nvSpPr>
          <p:cNvPr id="122" name="Google Shape;122;p28"/>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Flutter's </a:t>
            </a:r>
            <a:r>
              <a:rPr lang="en-GB" sz="1700">
                <a:solidFill>
                  <a:srgbClr val="188038"/>
                </a:solidFill>
                <a:latin typeface="Roboto Mono"/>
                <a:ea typeface="Roboto Mono"/>
                <a:cs typeface="Roboto Mono"/>
                <a:sym typeface="Roboto Mono"/>
              </a:rPr>
              <a:t>Navigator</a:t>
            </a:r>
            <a:r>
              <a:rPr lang="en-GB" sz="1700">
                <a:solidFill>
                  <a:schemeClr val="dk1"/>
                </a:solidFill>
              </a:rPr>
              <a:t> manages a stack of routes.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route represents a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last route added is the visible one.</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Navigator.push</a:t>
            </a:r>
            <a:r>
              <a:rPr lang="en-GB" sz="1700">
                <a:solidFill>
                  <a:schemeClr val="dk1"/>
                </a:solidFill>
              </a:rPr>
              <a:t> adds a route. </a:t>
            </a:r>
            <a:r>
              <a:rPr lang="en-GB" sz="1700">
                <a:solidFill>
                  <a:srgbClr val="188038"/>
                </a:solidFill>
                <a:latin typeface="Roboto Mono"/>
                <a:ea typeface="Roboto Mono"/>
                <a:cs typeface="Roboto Mono"/>
                <a:sym typeface="Roboto Mono"/>
              </a:rPr>
              <a:t>Navigator.pop</a:t>
            </a:r>
            <a:r>
              <a:rPr lang="en-GB" sz="1700">
                <a:solidFill>
                  <a:schemeClr val="dk1"/>
                </a:solidFill>
              </a:rPr>
              <a:t> returns to the previous one.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This works well for a screen that should have a back button.</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Flutter's navigation and routing guide</a:t>
            </a:r>
            <a:r>
              <a:rPr lang="en-GB" sz="1700">
                <a:solidFill>
                  <a:schemeClr val="dk1"/>
                </a:solidFill>
              </a:rPr>
              <a:t> explains the wider navigation options: </a:t>
            </a:r>
            <a:r>
              <a:rPr lang="en-GB" sz="1700" u="sng">
                <a:solidFill>
                  <a:schemeClr val="hlink"/>
                </a:solidFill>
                <a:hlinkClick r:id="rId3"/>
              </a:rPr>
              <a:t>docs.flutter.dev/ui/navigation</a:t>
            </a:r>
            <a:endParaRPr sz="17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9"/>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8" name="Google Shape;128;p29"/>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Push and pop</a:t>
            </a:r>
            <a:endParaRPr sz="2800"/>
          </a:p>
          <a:p>
            <a:pPr indent="0" lvl="0" marL="0" rtl="0" algn="l">
              <a:spcBef>
                <a:spcPts val="0"/>
              </a:spcBef>
              <a:spcAft>
                <a:spcPts val="0"/>
              </a:spcAft>
              <a:buNone/>
            </a:pPr>
            <a:r>
              <a:t/>
            </a:r>
            <a:endParaRPr sz="2800"/>
          </a:p>
        </p:txBody>
      </p:sp>
      <p:sp>
        <p:nvSpPr>
          <p:cNvPr id="129" name="Google Shape;129;p29"/>
          <p:cNvSpPr txBox="1"/>
          <p:nvPr/>
        </p:nvSpPr>
        <p:spPr>
          <a:xfrm>
            <a:off x="540000" y="1440000"/>
            <a:ext cx="5175000" cy="71886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we have </a:t>
            </a:r>
            <a:r>
              <a:rPr lang="en-GB" sz="1700">
                <a:solidFill>
                  <a:srgbClr val="188038"/>
                </a:solidFill>
                <a:latin typeface="Roboto Mono"/>
                <a:ea typeface="Roboto Mono"/>
                <a:cs typeface="Roboto Mono"/>
                <a:sym typeface="Roboto Mono"/>
              </a:rPr>
              <a:t>HomeScreen</a:t>
            </a:r>
            <a:r>
              <a:rPr lang="en-GB" sz="1700">
                <a:solidFill>
                  <a:schemeClr val="dk1"/>
                </a:solidFill>
              </a:rPr>
              <a:t>,</a:t>
            </a:r>
            <a:r>
              <a:rPr lang="en-GB" sz="1700">
                <a:solidFill>
                  <a:schemeClr val="dk1"/>
                </a:solidFill>
              </a:rPr>
              <a:t> </a:t>
            </a:r>
            <a:r>
              <a:rPr lang="en-GB" sz="1700">
                <a:solidFill>
                  <a:srgbClr val="188038"/>
                </a:solidFill>
                <a:latin typeface="Roboto Mono"/>
                <a:ea typeface="Roboto Mono"/>
                <a:cs typeface="Roboto Mono"/>
                <a:sym typeface="Roboto Mono"/>
              </a:rPr>
              <a:t>DetailsScreen</a:t>
            </a:r>
            <a:r>
              <a:rPr lang="en-GB" sz="1700">
                <a:solidFill>
                  <a:schemeClr val="dk1"/>
                </a:solidFill>
              </a:rPr>
              <a:t> and </a:t>
            </a:r>
            <a:r>
              <a:rPr lang="en-GB" sz="1700">
                <a:solidFill>
                  <a:srgbClr val="188038"/>
                </a:solidFill>
                <a:latin typeface="Roboto Mono"/>
                <a:ea typeface="Roboto Mono"/>
                <a:cs typeface="Roboto Mono"/>
                <a:sym typeface="Roboto Mono"/>
              </a:rPr>
              <a:t>SettingsScreen</a:t>
            </a:r>
            <a:r>
              <a:rPr lang="en-GB" sz="1700">
                <a:solidFill>
                  <a:schemeClr val="dk1"/>
                </a:solidFill>
              </a:rPr>
              <a: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Home pushes Details:</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MaterialPageRoute&lt;</a:t>
            </a: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builder: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DetailsScreen();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Details removes it again:</a:t>
            </a:r>
            <a:endParaRPr sz="1700">
              <a:solidFill>
                <a:schemeClr val="dk1"/>
              </a:solidFill>
            </a:endParaRPr>
          </a:p>
          <a:p>
            <a:pPr indent="0" lvl="0" marL="0" rtl="0" algn="l">
              <a:lnSpc>
                <a:spcPct val="100000"/>
              </a:lnSpc>
              <a:spcBef>
                <a:spcPts val="1000"/>
              </a:spcBef>
              <a:spcAft>
                <a:spcPts val="0"/>
              </a:spcAft>
              <a:buNone/>
            </a:pPr>
            <a:r>
              <a:rPr lang="en-GB" sz="1600">
                <a:solidFill>
                  <a:srgbClr val="333333"/>
                </a:solidFill>
                <a:latin typeface="Consolas"/>
                <a:ea typeface="Consolas"/>
                <a:cs typeface="Consolas"/>
                <a:sym typeface="Consolas"/>
              </a:rPr>
              <a:t>Navigator.pop(context);</a:t>
            </a:r>
            <a:endParaRPr sz="1600">
              <a:solidFill>
                <a:srgbClr val="333333"/>
              </a:solidFill>
              <a:latin typeface="Consolas"/>
              <a:ea typeface="Consolas"/>
              <a:cs typeface="Consolas"/>
              <a:sym typeface="Consolas"/>
            </a:endParaRPr>
          </a:p>
          <a:p>
            <a:pPr indent="0" lvl="0" marL="0" rtl="0" algn="l">
              <a:lnSpc>
                <a:spcPct val="100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MaterialPageRoute</a:t>
            </a:r>
            <a:r>
              <a:rPr lang="en-GB" sz="1700">
                <a:solidFill>
                  <a:schemeClr val="dk1"/>
                </a:solidFill>
              </a:rPr>
              <a:t> wraps the screen and supplies its transition.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stack changes from Home to Details and back to Home.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pop</a:t>
            </a:r>
            <a:r>
              <a:rPr lang="en-GB" sz="1700">
                <a:solidFill>
                  <a:schemeClr val="dk1"/>
                </a:solidFill>
              </a:rPr>
              <a:t> reveals the existing Home; it does not create a new one.</a:t>
            </a:r>
            <a:endParaRPr sz="17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30"/>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35" name="Google Shape;135;p30"/>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Named routes</a:t>
            </a:r>
            <a:endParaRPr sz="2800"/>
          </a:p>
          <a:p>
            <a:pPr indent="0" lvl="0" marL="0" rtl="0" algn="l">
              <a:spcBef>
                <a:spcPts val="0"/>
              </a:spcBef>
              <a:spcAft>
                <a:spcPts val="0"/>
              </a:spcAft>
              <a:buNone/>
            </a:pPr>
            <a:r>
              <a:t/>
            </a:r>
            <a:endParaRPr sz="2800"/>
          </a:p>
        </p:txBody>
      </p:sp>
      <p:sp>
        <p:nvSpPr>
          <p:cNvPr id="136" name="Google Shape;136;p30"/>
          <p:cNvSpPr txBox="1"/>
          <p:nvPr/>
        </p:nvSpPr>
        <p:spPr>
          <a:xfrm>
            <a:off x="540000" y="1440000"/>
            <a:ext cx="51750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Register each name in </a:t>
            </a:r>
            <a:r>
              <a:rPr lang="en-GB" sz="1700">
                <a:solidFill>
                  <a:srgbClr val="188038"/>
                </a:solidFill>
                <a:latin typeface="Roboto Mono"/>
                <a:ea typeface="Roboto Mono"/>
                <a:cs typeface="Roboto Mono"/>
                <a:sym typeface="Roboto Mono"/>
              </a:rPr>
              <a:t>MaterialApp</a:t>
            </a:r>
            <a:r>
              <a:rPr lang="en-GB" sz="1700">
                <a:solidFill>
                  <a:schemeClr val="dk1"/>
                </a:solidFill>
              </a:rPr>
              <a:t>; registering a route does not open it: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routes: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WidgetBuilder&gt;{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SettingsScreen();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can then push the route by its name:</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Navigator.pushNamed(context,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50000"/>
              </a:lnSpc>
              <a:spcBef>
                <a:spcPts val="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name chooses the screen; the stack works the same way.</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Repeated pushes create repeated copies of a screen (the worksheet shows how to stop this).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 recommends other approaches too: </a:t>
            </a:r>
            <a:r>
              <a:rPr lang="en-GB" sz="1700" u="sng">
                <a:solidFill>
                  <a:schemeClr val="hlink"/>
                </a:solidFill>
                <a:hlinkClick r:id="rId4"/>
              </a:rPr>
              <a:t>Navigation and routing</a:t>
            </a:r>
            <a:endParaRPr sz="17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1"/>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42" name="Google Shape;142;p31"/>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Replacing a route</a:t>
            </a:r>
            <a:endParaRPr sz="2800"/>
          </a:p>
          <a:p>
            <a:pPr indent="0" lvl="0" marL="0" rtl="0" algn="l">
              <a:spcBef>
                <a:spcPts val="0"/>
              </a:spcBef>
              <a:spcAft>
                <a:spcPts val="0"/>
              </a:spcAft>
              <a:buNone/>
            </a:pPr>
            <a:r>
              <a:t/>
            </a:r>
            <a:endParaRPr sz="2800"/>
          </a:p>
        </p:txBody>
      </p:sp>
      <p:sp>
        <p:nvSpPr>
          <p:cNvPr id="143" name="Google Shape;143;p31"/>
          <p:cNvSpPr txBox="1"/>
          <p:nvPr/>
        </p:nvSpPr>
        <p:spPr>
          <a:xfrm>
            <a:off x="540000" y="1440000"/>
            <a:ext cx="5175000" cy="7064400"/>
          </a:xfrm>
          <a:prstGeom prst="rect">
            <a:avLst/>
          </a:prstGeom>
          <a:noFill/>
          <a:ln>
            <a:noFill/>
          </a:ln>
        </p:spPr>
        <p:txBody>
          <a:bodyPr anchorCtr="0" anchor="t" bIns="91425" lIns="91425" spcFirstLastPara="1" rIns="91425" wrap="square" tIns="91425">
            <a:normAutofit lnSpcReduction="2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Sometimes Back should not return to the current screen.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E.g., after logging in, Back should not reopen the login form.</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Here’s a button on</a:t>
            </a:r>
            <a:r>
              <a:rPr lang="en-GB" sz="1700">
                <a:solidFill>
                  <a:schemeClr val="dk1"/>
                </a:solidFill>
              </a:rPr>
              <a:t> </a:t>
            </a:r>
            <a:r>
              <a:rPr lang="en-GB" sz="1700">
                <a:solidFill>
                  <a:srgbClr val="188038"/>
                </a:solidFill>
                <a:latin typeface="Roboto Mono"/>
                <a:ea typeface="Roboto Mono"/>
                <a:cs typeface="Roboto Mono"/>
                <a:sym typeface="Roboto Mono"/>
              </a:rPr>
              <a:t>LoginScreen</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ElevatedButton(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onPressed: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Navigator.pushReplacementNamed(</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 </a:t>
            </a:r>
            <a:r>
              <a:rPr lang="en-GB" sz="1600">
                <a:solidFill>
                  <a:srgbClr val="DD1144"/>
                </a:solidFill>
                <a:latin typeface="Consolas"/>
                <a:ea typeface="Consolas"/>
                <a:cs typeface="Consolas"/>
                <a:sym typeface="Consolas"/>
              </a:rPr>
              <a:t>'/home'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child: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Text(</a:t>
            </a:r>
            <a:r>
              <a:rPr lang="en-GB" sz="1600">
                <a:solidFill>
                  <a:srgbClr val="DD1144"/>
                </a:solidFill>
                <a:latin typeface="Consolas"/>
                <a:ea typeface="Consolas"/>
                <a:cs typeface="Consolas"/>
                <a:sym typeface="Consolas"/>
              </a:rPr>
              <a:t>'Log in'</a:t>
            </a:r>
            <a:r>
              <a:rPr lang="en-GB" sz="1600">
                <a:solidFill>
                  <a:srgbClr val="333333"/>
                </a:solidFill>
                <a:latin typeface="Consolas"/>
                <a:ea typeface="Consolas"/>
                <a:cs typeface="Consolas"/>
                <a:sym typeface="Consolas"/>
              </a:rPr>
              <a: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chemeClr val="dk1"/>
              </a:solidFill>
            </a:endParaRPr>
          </a:p>
          <a:p>
            <a:pPr indent="0" lvl="0" marL="0" rtl="0" algn="l">
              <a:lnSpc>
                <a:spcPct val="115000"/>
              </a:lnSpc>
              <a:spcBef>
                <a:spcPts val="0"/>
              </a:spcBef>
              <a:spcAft>
                <a:spcPts val="0"/>
              </a:spcAft>
              <a:buNone/>
            </a:pPr>
            <a:r>
              <a:t/>
            </a:r>
            <a:endParaRPr sz="16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the stack is Welcome, Login:</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pushNamed(context, '/home')</a:t>
            </a:r>
            <a:r>
              <a:rPr lang="en-GB" sz="1700">
                <a:solidFill>
                  <a:schemeClr val="dk1"/>
                </a:solidFill>
              </a:rPr>
              <a:t> keeps Login underneath: the stack becomes Welcome, Login, Home, so Back is Login.</a:t>
            </a:r>
            <a:endParaRPr sz="1700">
              <a:solidFill>
                <a:schemeClr val="dk1"/>
              </a:solidFill>
            </a:endParaRPr>
          </a:p>
          <a:p>
            <a:pPr indent="-336550" lvl="0" marL="457200" rtl="0" algn="l">
              <a:lnSpc>
                <a:spcPct val="150000"/>
              </a:lnSpc>
              <a:spcBef>
                <a:spcPts val="1000"/>
              </a:spcBef>
              <a:spcAft>
                <a:spcPts val="1000"/>
              </a:spcAft>
              <a:buClr>
                <a:schemeClr val="dk1"/>
              </a:buClr>
              <a:buSzPts val="1700"/>
              <a:buChar char="●"/>
            </a:pPr>
            <a:r>
              <a:rPr lang="en-GB" sz="1700">
                <a:solidFill>
                  <a:srgbClr val="188038"/>
                </a:solidFill>
                <a:latin typeface="Roboto Mono"/>
                <a:ea typeface="Roboto Mono"/>
                <a:cs typeface="Roboto Mono"/>
                <a:sym typeface="Roboto Mono"/>
              </a:rPr>
              <a:t>pushReplacementNamed(context, '/home')</a:t>
            </a:r>
            <a:r>
              <a:rPr lang="en-GB" sz="1700">
                <a:solidFill>
                  <a:schemeClr val="dk1"/>
                </a:solidFill>
              </a:rPr>
              <a:t> swaps Login for Home. Stack would be Welcome, Home, so Back is Welcome.</a:t>
            </a:r>
            <a:endParaRPr sz="17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2"/>
          <p:cNvSpPr txBox="1"/>
          <p:nvPr>
            <p:ph idx="4294967295" type="title"/>
          </p:nvPr>
        </p:nvSpPr>
        <p:spPr>
          <a:xfrm>
            <a:off x="0" y="0"/>
            <a:ext cx="5715000" cy="8572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t>Shared state</a:t>
            </a:r>
            <a:endParaRPr b="1" sz="2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33"/>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54" name="Google Shape;154;p33"/>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Local state and shared data </a:t>
            </a:r>
            <a:endParaRPr sz="2800"/>
          </a:p>
        </p:txBody>
      </p:sp>
      <p:sp>
        <p:nvSpPr>
          <p:cNvPr id="155" name="Google Shape;155;p33"/>
          <p:cNvSpPr txBox="1"/>
          <p:nvPr/>
        </p:nvSpPr>
        <p:spPr>
          <a:xfrm>
            <a:off x="540000" y="1440000"/>
            <a:ext cx="5175000" cy="67110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In l</a:t>
            </a:r>
            <a:r>
              <a:rPr lang="en-GB" sz="1700">
                <a:solidFill>
                  <a:schemeClr val="dk1"/>
                </a:solidFill>
              </a:rPr>
              <a:t>ecture 2 we covered ephemeral 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Now we have app-wide state.</a:t>
            </a:r>
            <a:endParaRPr sz="1700">
              <a:solidFill>
                <a:schemeClr val="dk1"/>
              </a:solidFill>
            </a:endParaRPr>
          </a:p>
          <a:p>
            <a:pPr indent="0" lvl="0" marL="9144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Ephemeral (local) state belongs to one widget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the selected tab on one screen or a text showing a number of sandwich emojis.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App (shared) state is needed by many screens.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a shopping cart, login details, or user preferences.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There is no clear-cut rule: data often starts local and becomes shared as the app grows.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More detail: </a:t>
            </a:r>
            <a:r>
              <a:rPr lang="en-GB" sz="1700" u="sng">
                <a:solidFill>
                  <a:schemeClr val="hlink"/>
                </a:solidFill>
                <a:hlinkClick r:id="rId3"/>
              </a:rPr>
              <a:t>Differentiate between ephemeral state and app state</a:t>
            </a:r>
            <a:endParaRPr sz="17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4"/>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1" name="Google Shape;161;p34"/>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2" name="Google Shape;162;p34"/>
          <p:cNvSpPr txBox="1"/>
          <p:nvPr/>
        </p:nvSpPr>
        <p:spPr>
          <a:xfrm>
            <a:off x="540000" y="1440000"/>
            <a:ext cx="5175000" cy="7128300"/>
          </a:xfrm>
          <a:prstGeom prst="rect">
            <a:avLst/>
          </a:prstGeom>
          <a:noFill/>
          <a:ln>
            <a:noFill/>
          </a:ln>
        </p:spPr>
        <p:txBody>
          <a:bodyPr anchorCtr="0" anchor="t" bIns="91425" lIns="91425" spcFirstLastPara="1" rIns="91425" wrap="square" tIns="91425">
            <a:normAutofit lnSpcReduction="1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Local state is a field in a screen's </a:t>
            </a:r>
            <a:r>
              <a:rPr lang="en-GB" sz="1700">
                <a:solidFill>
                  <a:srgbClr val="188038"/>
                </a:solidFill>
                <a:latin typeface="Roboto Mono"/>
                <a:ea typeface="Roboto Mono"/>
                <a:cs typeface="Roboto Mono"/>
                <a:sym typeface="Roboto Mono"/>
              </a:rPr>
              <a:t>State</a:t>
            </a:r>
            <a:r>
              <a:rPr lang="en-GB" sz="1700">
                <a:solidFill>
                  <a:schemeClr val="dk1"/>
                </a:solidFill>
              </a:rPr>
              <a:t> class, changed inside `setState`.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App state lives outside the screens, in an object they can all reach.</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private constructor and a </a:t>
            </a:r>
            <a:r>
              <a:rPr lang="en-GB" sz="1700">
                <a:solidFill>
                  <a:srgbClr val="188038"/>
                </a:solidFill>
                <a:latin typeface="Roboto Mono"/>
                <a:ea typeface="Roboto Mono"/>
                <a:cs typeface="Roboto Mono"/>
                <a:sym typeface="Roboto Mono"/>
              </a:rPr>
              <a:t>static final</a:t>
            </a:r>
            <a:r>
              <a:rPr lang="en-GB" sz="1700">
                <a:solidFill>
                  <a:schemeClr val="dk1"/>
                </a:solidFill>
              </a:rPr>
              <a:t> instance make exactly one shared object (a singleton):</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class</a:t>
            </a:r>
            <a:r>
              <a:rPr lang="en-GB" sz="1600">
                <a:solidFill>
                  <a:srgbClr val="333333"/>
                </a:solidFill>
                <a:latin typeface="Consolas"/>
                <a:ea typeface="Consolas"/>
                <a:cs typeface="Consolas"/>
                <a:sym typeface="Consolas"/>
              </a:rPr>
              <a:t> </a:t>
            </a:r>
            <a:r>
              <a:rPr b="1" lang="en-GB" sz="1600">
                <a:solidFill>
                  <a:srgbClr val="445588"/>
                </a:solidFill>
                <a:latin typeface="Consolas"/>
                <a:ea typeface="Consolas"/>
                <a:cs typeface="Consolas"/>
                <a:sym typeface="Consolas"/>
              </a:rPr>
              <a:t>Favourites</a:t>
            </a: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static</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Favourites instance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List</a:t>
            </a:r>
            <a:r>
              <a:rPr lang="en-GB" sz="1600">
                <a:solidFill>
                  <a:srgbClr val="333333"/>
                </a:solidFill>
                <a:latin typeface="Consolas"/>
                <a:ea typeface="Consolas"/>
                <a:cs typeface="Consolas"/>
                <a:sym typeface="Consolas"/>
              </a:rPr>
              <a:t>&lt;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 items =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Favourites._internal()</a:t>
            </a:r>
            <a:r>
              <a:rPr lang="en-GB" sz="1700">
                <a:solidFill>
                  <a:schemeClr val="dk1"/>
                </a:solidFill>
              </a:rPr>
              <a:t> is a named constructor, blocking other files to instantiate.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Every screen uses </a:t>
            </a:r>
            <a:r>
              <a:rPr lang="en-GB" sz="1700">
                <a:solidFill>
                  <a:srgbClr val="188038"/>
                </a:solidFill>
                <a:latin typeface="Roboto Mono"/>
                <a:ea typeface="Roboto Mono"/>
                <a:cs typeface="Roboto Mono"/>
                <a:sym typeface="Roboto Mono"/>
              </a:rPr>
              <a:t>Favourites.instance</a:t>
            </a:r>
            <a:r>
              <a:rPr lang="en-GB" sz="1700">
                <a:solidFill>
                  <a:schemeClr val="dk1"/>
                </a:solidFill>
              </a:rPr>
              <a:t>, so they all see the same list.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Return an unmodifiable list if screens should not change the data directly.</a:t>
            </a:r>
            <a:endParaRPr sz="17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5"/>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8" name="Google Shape;168;p35"/>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9" name="Google Shape;169;p35"/>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singleton shares data; it does not automatically rebuild every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After changing the data, the visible screen calls </a:t>
            </a:r>
            <a:r>
              <a:rPr lang="en-GB" sz="1700">
                <a:solidFill>
                  <a:srgbClr val="188038"/>
                </a:solidFill>
                <a:latin typeface="Roboto Mono"/>
                <a:ea typeface="Roboto Mono"/>
                <a:cs typeface="Roboto Mono"/>
                <a:sym typeface="Roboto Mono"/>
              </a:rPr>
              <a:t>setState</a:t>
            </a:r>
            <a:r>
              <a:rPr lang="en-GB" sz="1700">
                <a:solidFill>
                  <a:schemeClr val="dk1"/>
                </a:solidFill>
              </a:rPr>
              <a:t> so Flutter builds it again.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Other screens read the latest data when they are next built.</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data lives in memory only; it is lost when the app closes. (We’ll talk about </a:t>
            </a:r>
            <a:r>
              <a:rPr lang="en-GB" sz="1700">
                <a:solidFill>
                  <a:schemeClr val="dk1"/>
                </a:solidFill>
              </a:rPr>
              <a:t>persistence</a:t>
            </a:r>
            <a:r>
              <a:rPr lang="en-GB" sz="1700">
                <a:solidFill>
                  <a:schemeClr val="dk1"/>
                </a:solidFill>
              </a:rPr>
              <a:t> in the next lecture)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state management page below compares other approaches: </a:t>
            </a:r>
            <a:r>
              <a:rPr lang="en-GB" sz="1700" u="sng">
                <a:solidFill>
                  <a:schemeClr val="hlink"/>
                </a:solidFill>
                <a:hlinkClick r:id="rId3"/>
              </a:rPr>
              <a:t>State management</a:t>
            </a:r>
            <a:endParaRPr sz="17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6"/>
          <p:cNvSpPr txBox="1"/>
          <p:nvPr>
            <p:ph idx="4294967295" type="title"/>
          </p:nvPr>
        </p:nvSpPr>
        <p:spPr>
          <a:xfrm>
            <a:off x="0" y="0"/>
            <a:ext cx="5715000" cy="8572500"/>
          </a:xfrm>
          <a:prstGeom prst="rect">
            <a:avLst/>
          </a:prstGeom>
          <a:solidFill>
            <a:srgbClr val="58184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7"/>
          <p:cNvSpPr txBox="1"/>
          <p:nvPr/>
        </p:nvSpPr>
        <p:spPr>
          <a:xfrm>
            <a:off x="463375" y="1440000"/>
            <a:ext cx="5251500" cy="7015500"/>
          </a:xfrm>
          <a:prstGeom prst="rect">
            <a:avLst/>
          </a:prstGeom>
          <a:noFill/>
          <a:ln>
            <a:noFill/>
          </a:ln>
        </p:spPr>
        <p:txBody>
          <a:bodyPr anchorCtr="0" anchor="t" bIns="91425" lIns="91425" spcFirstLastPara="1" rIns="91425" wrap="square" tIns="91425">
            <a:normAutofit fontScale="92500" lnSpcReduction="10000"/>
          </a:bodyPr>
          <a:lstStyle/>
          <a:p>
            <a:pPr indent="-328454" lvl="0" marL="457200" rtl="0" algn="l">
              <a:lnSpc>
                <a:spcPct val="150000"/>
              </a:lnSpc>
              <a:spcBef>
                <a:spcPts val="0"/>
              </a:spcBef>
              <a:spcAft>
                <a:spcPts val="0"/>
              </a:spcAft>
              <a:buClr>
                <a:schemeClr val="dk1"/>
              </a:buClr>
              <a:buSzPct val="100000"/>
              <a:buChar char="●"/>
            </a:pPr>
            <a:r>
              <a:rPr lang="en-GB" sz="1700">
                <a:solidFill>
                  <a:schemeClr val="dk1"/>
                </a:solidFill>
              </a:rPr>
              <a:t>Text: </a:t>
            </a:r>
            <a:r>
              <a:rPr lang="en-GB" sz="1700">
                <a:solidFill>
                  <a:srgbClr val="188038"/>
                </a:solidFill>
                <a:latin typeface="Roboto Mono"/>
                <a:ea typeface="Roboto Mono"/>
                <a:cs typeface="Roboto Mono"/>
                <a:sym typeface="Roboto Mono"/>
              </a:rPr>
              <a:t>TextField</a:t>
            </a:r>
            <a:r>
              <a:rPr lang="en-GB" sz="1700">
                <a:solidFill>
                  <a:schemeClr val="dk1"/>
                </a:solidFill>
              </a:rPr>
              <a:t>, read through a </a:t>
            </a:r>
            <a:r>
              <a:rPr lang="en-GB" sz="1700">
                <a:solidFill>
                  <a:srgbClr val="188038"/>
                </a:solidFill>
                <a:latin typeface="Roboto Mono"/>
                <a:ea typeface="Roboto Mono"/>
                <a:cs typeface="Roboto Mono"/>
                <a:sym typeface="Roboto Mono"/>
              </a:rPr>
              <a:t>TextEditingController</a:t>
            </a:r>
            <a:r>
              <a:rPr lang="en-GB" sz="1700">
                <a:solidFill>
                  <a:schemeClr val="dk1"/>
                </a:solidFill>
              </a:rPr>
              <a:t>. See examples here: </a:t>
            </a:r>
            <a:r>
              <a:rPr lang="en-GB" sz="1700" u="sng">
                <a:solidFill>
                  <a:schemeClr val="hlink"/>
                </a:solidFill>
                <a:hlinkClick r:id="rId3"/>
              </a:rPr>
              <a:t>pub.dev/documentation/material_ui/latest/material_ui/TextField-class</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 or off: </a:t>
            </a:r>
            <a:r>
              <a:rPr lang="en-GB" sz="1700">
                <a:solidFill>
                  <a:srgbClr val="188038"/>
                </a:solidFill>
                <a:latin typeface="Roboto Mono"/>
                <a:ea typeface="Roboto Mono"/>
                <a:cs typeface="Roboto Mono"/>
                <a:sym typeface="Roboto Mono"/>
              </a:rPr>
              <a:t>Switch</a:t>
            </a:r>
            <a:r>
              <a:rPr lang="en-GB" sz="1700">
                <a:solidFill>
                  <a:schemeClr val="dk1"/>
                </a:solidFill>
              </a:rPr>
              <a:t> or </a:t>
            </a:r>
            <a:r>
              <a:rPr lang="en-GB" sz="1700">
                <a:solidFill>
                  <a:srgbClr val="188038"/>
                </a:solidFill>
                <a:latin typeface="Roboto Mono"/>
                <a:ea typeface="Roboto Mono"/>
                <a:cs typeface="Roboto Mono"/>
                <a:sym typeface="Roboto Mono"/>
              </a:rPr>
              <a:t>Checkbox</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Switch(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value: _notifications,</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onChanged: (</a:t>
            </a:r>
            <a:r>
              <a:rPr lang="en-GB" sz="1600">
                <a:solidFill>
                  <a:srgbClr val="0086B3"/>
                </a:solidFill>
                <a:latin typeface="Consolas"/>
                <a:ea typeface="Consolas"/>
                <a:cs typeface="Consolas"/>
                <a:sym typeface="Consolas"/>
              </a:rPr>
              <a:t>bool</a:t>
            </a:r>
            <a:r>
              <a:rPr lang="en-GB" sz="1600">
                <a:solidFill>
                  <a:srgbClr val="333333"/>
                </a:solidFill>
                <a:latin typeface="Consolas"/>
                <a:ea typeface="Consolas"/>
                <a:cs typeface="Consolas"/>
                <a:sym typeface="Consolas"/>
              </a:rPr>
              <a:t> newValue)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_notifications = newValue;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28454" lvl="0" marL="457200" rtl="0" algn="l">
              <a:lnSpc>
                <a:spcPct val="150000"/>
              </a:lnSpc>
              <a:spcBef>
                <a:spcPts val="0"/>
              </a:spcBef>
              <a:spcAft>
                <a:spcPts val="0"/>
              </a:spcAft>
              <a:buClr>
                <a:schemeClr val="dk1"/>
              </a:buClr>
              <a:buSzPct val="100000"/>
              <a:buChar char="●"/>
            </a:pPr>
            <a:r>
              <a:rPr lang="en-GB" sz="1700">
                <a:solidFill>
                  <a:schemeClr val="dk1"/>
                </a:solidFill>
              </a:rPr>
              <a:t>A number in a range: </a:t>
            </a:r>
            <a:r>
              <a:rPr lang="en-GB" sz="1700">
                <a:solidFill>
                  <a:srgbClr val="188038"/>
                </a:solidFill>
                <a:latin typeface="Roboto Mono"/>
                <a:ea typeface="Roboto Mono"/>
                <a:cs typeface="Roboto Mono"/>
                <a:sym typeface="Roboto Mono"/>
              </a:rPr>
              <a:t>Slider</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One option from a list: </a:t>
            </a:r>
            <a:r>
              <a:rPr lang="en-GB" sz="1700">
                <a:solidFill>
                  <a:srgbClr val="188038"/>
                </a:solidFill>
                <a:latin typeface="Roboto Mono"/>
                <a:ea typeface="Roboto Mono"/>
                <a:cs typeface="Roboto Mono"/>
                <a:sym typeface="Roboto Mono"/>
              </a:rPr>
              <a:t>DropdownMenu</a:t>
            </a:r>
            <a:r>
              <a:rPr lang="en-GB" sz="1700">
                <a:solidFill>
                  <a:schemeClr val="dk1"/>
                </a:solidFill>
              </a:rPr>
              <a:t> or </a:t>
            </a:r>
            <a:r>
              <a:rPr lang="en-GB" sz="1700">
                <a:solidFill>
                  <a:srgbClr val="188038"/>
                </a:solidFill>
                <a:latin typeface="Roboto Mono"/>
                <a:ea typeface="Roboto Mono"/>
                <a:cs typeface="Roboto Mono"/>
                <a:sym typeface="Roboto Mono"/>
              </a:rPr>
              <a:t>SegmentedButton</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A date: </a:t>
            </a:r>
            <a:r>
              <a:rPr lang="en-GB" sz="1700">
                <a:solidFill>
                  <a:srgbClr val="188038"/>
                </a:solidFill>
                <a:latin typeface="Roboto Mono"/>
                <a:ea typeface="Roboto Mono"/>
                <a:cs typeface="Roboto Mono"/>
                <a:sym typeface="Roboto Mono"/>
              </a:rPr>
              <a:t>showDatePicker</a:t>
            </a:r>
            <a:r>
              <a:rPr lang="en-GB" sz="1700">
                <a:solidFill>
                  <a:schemeClr val="dk1"/>
                </a:solidFill>
              </a:rPr>
              <a:t> opens a calendar.</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28454" lvl="0" marL="457200" rtl="0" algn="l">
              <a:lnSpc>
                <a:spcPct val="150000"/>
              </a:lnSpc>
              <a:spcBef>
                <a:spcPts val="1000"/>
              </a:spcBef>
              <a:spcAft>
                <a:spcPts val="1000"/>
              </a:spcAft>
              <a:buClr>
                <a:schemeClr val="dk1"/>
              </a:buClr>
              <a:buSzPct val="100000"/>
              <a:buChar char="●"/>
            </a:pPr>
            <a:r>
              <a:rPr lang="en-GB" sz="1700">
                <a:solidFill>
                  <a:schemeClr val="dk1"/>
                </a:solidFill>
              </a:rPr>
              <a:t>Flutter's selection widgets: </a:t>
            </a:r>
            <a:r>
              <a:rPr lang="en-GB" sz="1700" u="sng">
                <a:solidFill>
                  <a:schemeClr val="hlink"/>
                </a:solidFill>
                <a:hlinkClick r:id="rId4"/>
              </a:rPr>
              <a:t>Material component widgets</a:t>
            </a:r>
            <a:endParaRPr sz="1700">
              <a:solidFill>
                <a:schemeClr val="dk1"/>
              </a:solidFill>
            </a:endParaRPr>
          </a:p>
        </p:txBody>
      </p:sp>
      <p:sp>
        <p:nvSpPr>
          <p:cNvPr id="180" name="Google Shape;180;p37"/>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1" name="Google Shape;181;p3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Collecting input</a:t>
            </a:r>
            <a:endParaRPr sz="2800"/>
          </a:p>
          <a:p>
            <a:pPr indent="0" lvl="0" marL="0" rtl="0" algn="l">
              <a:spcBef>
                <a:spcPts val="0"/>
              </a:spcBef>
              <a:spcAft>
                <a:spcPts val="0"/>
              </a:spcAft>
              <a:buNone/>
            </a:pPr>
            <a:r>
              <a:t/>
            </a:r>
            <a:endParaRPr sz="2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8"/>
          <p:cNvSpPr txBox="1"/>
          <p:nvPr/>
        </p:nvSpPr>
        <p:spPr>
          <a:xfrm>
            <a:off x="463375" y="1440000"/>
            <a:ext cx="52515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save button's handler like the one below can read the current values:</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 _save()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name = _nameController.text;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_savedName = name;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_nameController.text</a:t>
            </a:r>
            <a:r>
              <a:rPr lang="en-GB" sz="1700">
                <a:solidFill>
                  <a:schemeClr val="dk1"/>
                </a:solidFill>
              </a:rPr>
              <a:t> holds what the user typed; the switch value is already in a field.</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Saving here keeps the values in memory; In Worksheet 6 we’ll see storing values between app launches </a:t>
            </a:r>
            <a:r>
              <a:rPr lang="en-GB" sz="1700">
                <a:solidFill>
                  <a:schemeClr val="dk1"/>
                </a:solidFill>
              </a:rPr>
              <a:t>(persistence).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To reject empty or invalid input, use </a:t>
            </a:r>
            <a:r>
              <a:rPr lang="en-GB" sz="1700">
                <a:solidFill>
                  <a:srgbClr val="188038"/>
                </a:solidFill>
                <a:latin typeface="Roboto Mono"/>
                <a:ea typeface="Roboto Mono"/>
                <a:cs typeface="Roboto Mono"/>
                <a:sym typeface="Roboto Mono"/>
              </a:rPr>
              <a:t>Form</a:t>
            </a:r>
            <a:r>
              <a:rPr lang="en-GB" sz="1700">
                <a:solidFill>
                  <a:schemeClr val="dk1"/>
                </a:solidFill>
              </a:rPr>
              <a:t> and </a:t>
            </a:r>
            <a:r>
              <a:rPr lang="en-GB" sz="1700">
                <a:solidFill>
                  <a:srgbClr val="188038"/>
                </a:solidFill>
                <a:latin typeface="Roboto Mono"/>
                <a:ea typeface="Roboto Mono"/>
                <a:cs typeface="Roboto Mono"/>
                <a:sym typeface="Roboto Mono"/>
              </a:rPr>
              <a:t>TextFormField</a:t>
            </a:r>
            <a:r>
              <a:rPr lang="en-GB" sz="1700">
                <a:solidFill>
                  <a:schemeClr val="dk1"/>
                </a:solidFill>
              </a:rPr>
              <a:t>: </a:t>
            </a:r>
            <a:r>
              <a:rPr lang="en-GB" sz="1700" u="sng">
                <a:solidFill>
                  <a:schemeClr val="hlink"/>
                </a:solidFill>
                <a:hlinkClick r:id="rId3"/>
              </a:rPr>
              <a:t>Build a form with validation</a:t>
            </a:r>
            <a:endParaRPr sz="1700">
              <a:solidFill>
                <a:schemeClr val="dk1"/>
              </a:solidFill>
            </a:endParaRPr>
          </a:p>
        </p:txBody>
      </p:sp>
      <p:sp>
        <p:nvSpPr>
          <p:cNvPr id="187" name="Google Shape;187;p38"/>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8" name="Google Shape;188;p3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Saving input</a:t>
            </a:r>
            <a:endParaRPr sz="2800"/>
          </a:p>
          <a:p>
            <a:pPr indent="0" lvl="0" marL="0" rtl="0" algn="l">
              <a:spcBef>
                <a:spcPts val="0"/>
              </a:spcBef>
              <a:spcAft>
                <a:spcPts val="0"/>
              </a:spcAft>
              <a:buNone/>
            </a:pPr>
            <a:r>
              <a:t/>
            </a:r>
            <a:endParaRPr sz="28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2" name="Shape 192"/>
        <p:cNvGrpSpPr/>
        <p:nvPr/>
      </p:nvGrpSpPr>
      <p:grpSpPr>
        <a:xfrm>
          <a:off x="0" y="0"/>
          <a:ext cx="0" cy="0"/>
          <a:chOff x="0" y="0"/>
          <a:chExt cx="0" cy="0"/>
        </a:xfrm>
      </p:grpSpPr>
      <p:sp>
        <p:nvSpPr>
          <p:cNvPr id="193" name="Google Shape;193;p39"/>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Live coding</a:t>
            </a:r>
            <a:endParaRPr/>
          </a:p>
        </p:txBody>
      </p:sp>
      <p:sp>
        <p:nvSpPr>
          <p:cNvPr id="194" name="Google Shape;194;p39"/>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We continue from the branching demo in Lecture 3 and the merge conflict demo in Lecture 4.</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Pull requests are how teams review work before it is merged.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For a video tutorial on PRs in VS Code: </a:t>
            </a:r>
            <a:r>
              <a:rPr lang="en-GB" sz="1700" u="sng">
                <a:solidFill>
                  <a:schemeClr val="hlink"/>
                </a:solidFill>
                <a:hlinkClick r:id="rId3"/>
              </a:rPr>
              <a:t>Pull Requests in VS Code</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Or for an interactive tutorial on GitHub: </a:t>
            </a:r>
            <a:r>
              <a:rPr lang="en-GB" sz="1700" u="sng">
                <a:solidFill>
                  <a:schemeClr val="hlink"/>
                </a:solidFill>
                <a:hlinkClick r:id="rId4"/>
              </a:rPr>
              <a:t>skills/review-pull-requests: Collaborate and work together on GitHub.</a:t>
            </a:r>
            <a:endParaRPr sz="17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40"/>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Demo 3</a:t>
            </a:r>
            <a:endParaRPr/>
          </a:p>
        </p:txBody>
      </p:sp>
      <p:sp>
        <p:nvSpPr>
          <p:cNvPr id="200" name="Google Shape;200;p40"/>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Union of Worksheet 5 and Worksheet 6 exercises: navigation, a basket, a profile form and saved bookings.</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More on SQL databases and emulators next week too.</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Also unit tests and widget tests covering almost all of your codebase.</a:t>
            </a:r>
            <a:endParaRPr sz="1700">
              <a:solidFill>
                <a:schemeClr val="dk1"/>
              </a:solidFill>
            </a:endParaRPr>
          </a:p>
          <a:p>
            <a:pPr indent="0" lvl="0" marL="0" rtl="0" algn="l">
              <a:lnSpc>
                <a:spcPct val="135714"/>
              </a:lnSpc>
              <a:spcBef>
                <a:spcPts val="1000"/>
              </a:spcBef>
              <a:spcAft>
                <a:spcPts val="0"/>
              </a:spcAft>
              <a:buNone/>
            </a:pPr>
            <a:r>
              <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Demonstrate in your own timetabled practical session.</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You can only do one demo in each window.</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More information on the web page: </a:t>
            </a:r>
            <a:r>
              <a:rPr lang="en-GB" sz="1700" u="sng">
                <a:solidFill>
                  <a:schemeClr val="hlink"/>
                </a:solidFill>
                <a:hlinkClick r:id="rId3"/>
              </a:rPr>
              <a:t>manighahrmani.github.io/sandwich_shop/</a:t>
            </a:r>
            <a:endParaRPr sz="17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41"/>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Module feedback</a:t>
            </a:r>
            <a:endParaRPr/>
          </a:p>
        </p:txBody>
      </p:sp>
      <p:sp>
        <p:nvSpPr>
          <p:cNvPr id="206" name="Google Shape;206;p41"/>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Give us your feedback, comments, criticisms, or insults by filling out the following form.</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It’s anonymous; you need to sign in via your student account, but your details aren’t recorded.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Use this link or the QR code: </a:t>
            </a:r>
            <a:r>
              <a:rPr lang="en-GB" u="sng">
                <a:solidFill>
                  <a:schemeClr val="hlink"/>
                </a:solidFill>
                <a:hlinkClick r:id="rId3"/>
              </a:rPr>
              <a:t>forms.cloud.microsoft/e/88jd4UGAui</a:t>
            </a:r>
            <a:endParaRPr/>
          </a:p>
          <a:p>
            <a:pPr indent="0" lvl="0" marL="0" rtl="0" algn="l">
              <a:spcBef>
                <a:spcPts val="1000"/>
              </a:spcBef>
              <a:spcAft>
                <a:spcPts val="1500"/>
              </a:spcAft>
              <a:buNone/>
            </a:pPr>
            <a:r>
              <a:t/>
            </a:r>
            <a:endParaRPr/>
          </a:p>
        </p:txBody>
      </p:sp>
      <p:pic>
        <p:nvPicPr>
          <p:cNvPr id="207" name="Google Shape;207;p41" title="QRCode for Flutter Module Feedback Form.png"/>
          <p:cNvPicPr preferRelativeResize="0"/>
          <p:nvPr/>
        </p:nvPicPr>
        <p:blipFill>
          <a:blip r:embed="rId4">
            <a:alphaModFix/>
          </a:blip>
          <a:stretch>
            <a:fillRect/>
          </a:stretch>
        </p:blipFill>
        <p:spPr>
          <a:xfrm>
            <a:off x="1263638" y="4635875"/>
            <a:ext cx="3297776" cy="32977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FF5733"/>
      </a:accent3>
      <a:accent4>
        <a:srgbClr val="34D1BF"/>
      </a:accent4>
      <a:accent5>
        <a:srgbClr val="F9E79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
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8572500" cx="5715000"/>
  <p:notesSz cx="6858000" cy="9144000"/>
  <p:embeddedFontLs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00">
          <p15:clr>
            <a:srgbClr val="A4A3A4"/>
          </p15:clr>
        </p15:guide>
        <p15:guide id="2" pos="340">
          <p15:clr>
            <a:srgbClr val="A4A3A4"/>
          </p15:clr>
        </p15:guide>
        <p15:guide id="3" pos="22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D7F631-380B-4685-AB2B-D6CB402E61F6}">
  <a:tblStyle styleId="{A2D7F631-380B-4685-AB2B-D6CB402E61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00" orient="horz"/>
        <p:guide pos="340"/>
        <p:guide pos="22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6b21d61a4_1_237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6b21d61a4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922a615a_1_5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922a615a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ba8f7da0b_1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ba8f7da0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164a0a9319a078d0_0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164a0a9319a078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3c6607f17795faeb_0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3c6607f17795fa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3c6607f17795faeb_0_1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3c6607f17795fae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2978e82886a43b6b_1_6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2978e82886a43b6b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f7524da5d_0_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f7524da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a6b21d61a4_1_5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a6b21d61a4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1eddc00e62debbeb_5_2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1eddc00e62debbeb_5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922a615a_1_1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a922a615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a922a615a_1_4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a922a615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8e5763648_0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8e57636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Create a new repository on GitHub (for example, named `git-demo`). In VS Code, press `Ctrl+Shift+P` (or `Cmd+Shift+P` on macOS), select `Git: Clone`, paste the repository URL, and open the cloned folder when prompted.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clone https://github.com/&lt;your-username&gt;/git-demo.git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cd git-demo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In the VS Code Explorer panel, click the `New File` icon to create `README.md` and add text. In the Source Control view (`Ctrl+Shift+G`), click `+` next to the file to stage it, type `docs: add README` in the message box, and click `Commit`.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echo "# Git branching demo" &gt; README.md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add README.md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commit -m "docs: add README"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push origin main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Look at the bottom-left corner of the VS Code status bar to view the current active branch name (`main`). Clicking it opens the branch menu showing all local and remote branches.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branch -a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Click the current branch name (`main`) in the bottom-left status bar, select `Create new branch...`, type `feature`, and press `Enter`. VS Code automatically switches to 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checkout -b feature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In Explorer, create a new file named `feature.txt` with content. Switch to Source Control, click `+` to stage, type `feat: add feature file`, and click `Commit`.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echo "This is a new feature." &gt; feature.txt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add feature.txt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commit -m "feat: add feature file"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In Source Control, click `Publish Branch` (or the sync icon next to `feature` on the status bar) to push the branch to GitHub. Open your repository page on GitHub in a browser, click the green `Compare &amp; pull request` button that appears at the top, add a title/description, click `Create pull request`, and then click `Merge pull request` followed by `Confirm merge`.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push -u origin feature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# Open GitHub to create and merge the pull request into main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Switch back to VS Code. Click the branch name in the bottom-left status bar and select `main`. In Source Control, click the `...` menu, select `Pull`, and observe `feature.txt` now appearing in the file list on `main`.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checkout main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pull origin main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Open the built-in terminal or press `Ctrl+Shift+P` and run `Git: View Graph` (if using the Git Graph extension or built-in Source Control Graph view) to inspect the commit history.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log --oneline --graph --all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1eddc00e62debbeb_5_1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1eddc00e62debbeb_5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ba8f7da0b_1_9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ba8f7da0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65938" y="2055292"/>
            <a:ext cx="2528100" cy="24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65938" y="4671792"/>
            <a:ext cx="2528100" cy="20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165938" y="2055292"/>
            <a:ext cx="2528400" cy="24705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165938" y="4671792"/>
            <a:ext cx="2528400" cy="2058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loud.google.com/edu/students" TargetMode="External"/><Relationship Id="rId4" Type="http://schemas.openxmlformats.org/officeDocument/2006/relationships/hyperlink" Target="https://one.google.com/ai-studen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flutter.dev/app-architecture/gui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manighahrmani.github.io/sandwich_shop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forms.cloud.microsoft/e/88jd4UGAui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4294967295" type="title"/>
          </p:nvPr>
        </p:nvSpPr>
        <p:spPr>
          <a:xfrm>
            <a:off x="2501850" y="2857378"/>
            <a:ext cx="3213300" cy="2857500"/>
          </a:xfrm>
          <a:prstGeom prst="rect">
            <a:avLst/>
          </a:prstGeom>
          <a:solidFill>
            <a:srgbClr val="FEF0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Repositories and assets</a:t>
            </a:r>
            <a:endParaRPr b="1" sz="2000"/>
          </a:p>
        </p:txBody>
      </p:sp>
      <p:sp>
        <p:nvSpPr>
          <p:cNvPr id="100" name="Google Shape;100;p25"/>
          <p:cNvSpPr txBox="1"/>
          <p:nvPr>
            <p:ph idx="4294967295" type="title"/>
          </p:nvPr>
        </p:nvSpPr>
        <p:spPr>
          <a:xfrm>
            <a:off x="2501850" y="-123"/>
            <a:ext cx="3213300" cy="2857500"/>
          </a:xfrm>
          <a:prstGeom prst="rect">
            <a:avLst/>
          </a:prstGeom>
          <a:solidFill>
            <a:srgbClr val="4A0E4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</a:rPr>
              <a:t>Data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1" name="Google Shape;101;p25"/>
          <p:cNvSpPr txBox="1"/>
          <p:nvPr>
            <p:ph idx="4294967295" type="title"/>
          </p:nvPr>
        </p:nvSpPr>
        <p:spPr>
          <a:xfrm>
            <a:off x="2501850" y="5714878"/>
            <a:ext cx="3213300" cy="28575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In-page Navigation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102" name="Google Shape;10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05" y="6764586"/>
            <a:ext cx="680140" cy="75808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5"/>
          <p:cNvSpPr txBox="1"/>
          <p:nvPr/>
        </p:nvSpPr>
        <p:spPr>
          <a:xfrm>
            <a:off x="99825" y="0"/>
            <a:ext cx="2321100" cy="43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000000"/>
                </a:solidFill>
              </a:rPr>
              <a:t>PAPL (M30235) UXDI (M32605)</a:t>
            </a:r>
            <a:endParaRPr b="1" sz="2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</a:rPr>
              <a:t>Lecture </a:t>
            </a:r>
            <a:r>
              <a:rPr lang="en-GB" sz="2300"/>
              <a:t>3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Repositories and assets</a:t>
            </a:r>
            <a:endParaRPr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4A0E4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Data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4A0E4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Data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14" name="Google Shape;114;p27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News?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15" name="Google Shape;115;p27"/>
          <p:cNvSpPr txBox="1"/>
          <p:nvPr/>
        </p:nvSpPr>
        <p:spPr>
          <a:xfrm>
            <a:off x="540000" y="1440000"/>
            <a:ext cx="5175000" cy="3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Are we still doing the tech news thing?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Google One and Google Cloud for student offers: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 u="sng">
                <a:solidFill>
                  <a:schemeClr val="hlink"/>
                </a:solidFill>
                <a:hlinkClick r:id="rId3"/>
              </a:rPr>
              <a:t>cloud.google.com/edu/students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 u="sng">
                <a:solidFill>
                  <a:schemeClr val="hlink"/>
                </a:solidFill>
                <a:hlinkClick r:id="rId4"/>
              </a:rPr>
              <a:t>one.google.com/ai-student</a:t>
            </a:r>
            <a:endParaRPr sz="17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4A0E4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Data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Feedback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graphicFrame>
        <p:nvGraphicFramePr>
          <p:cNvPr id="122" name="Google Shape;122;p28"/>
          <p:cNvGraphicFramePr/>
          <p:nvPr/>
        </p:nvGraphicFramePr>
        <p:xfrm>
          <a:off x="627025" y="126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{A2D7F631-380B-4685-AB2B-D6CB402E61F6}</a:tableStyleId>
              </a:tblPr>
              <a:tblGrid>
                <a:gridCol w="2555075"/>
                <a:gridCol w="2251175"/>
              </a:tblGrid>
              <a:tr h="41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Feedback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Suggested solution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“Giving us more time to complete worksheets and prepare for demos, taking into consideration our timetables and how some of us have a lot less time to complete them than others."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“Fail retrieval” week in February in addition to Ref/def (Ref/def is Summer)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Can do demo 1 next week (and demo 2 in the next demo window and so on)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Drop-in session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Rushing through … not giving enough time …. I am somehow expected to complete the whole of worksheet 2 and the exercises before my demo tomorrow. This is so unrealistic . … I get home late due a late 6pm finish and I have an early 9am start tomorrow as well which gives me no time today … unless I get four hours of sleep.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Coursework and 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worksheets are </a:t>
                      </a:r>
                      <a:r>
                        <a:rPr lang="en-GB" sz="1300"/>
                        <a:t>released</a:t>
                      </a:r>
                      <a:r>
                        <a:rPr lang="en-GB" sz="1300"/>
                        <a:t> ahead of time.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You have deadlines for SETAP and other modules towards the end of the term. The sooner you get marks for this module, the less stressed </a:t>
                      </a:r>
                      <a:r>
                        <a:rPr lang="en-GB" sz="1300"/>
                        <a:t>you’ll be later.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“Please start caring about students' emotions.”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See above.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“Explain all the terms we need to learn … for the coursework following everything we’ve learned from the worksheets.”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Have you read the worksheet?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Should the worksheets be more verbose? Should I do anything in the lecture?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“Keep more educated teacher.”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What?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4A0E4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Data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8" name="Google Shape;128;p29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Data models and separation of concerns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9" name="Google Shape;129;p29"/>
          <p:cNvSpPr txBox="1"/>
          <p:nvPr/>
        </p:nvSpPr>
        <p:spPr>
          <a:xfrm>
            <a:off x="540000" y="1440000"/>
            <a:ext cx="51750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Dart files are code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If data (e.g., names of movies or ticket prices) are stored in Dart files, the data is hardcoded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Hardcoded data lives inside widget build methods.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 makes code hard to maintain.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For example, if inflation </a:t>
            </a:r>
            <a:r>
              <a:rPr lang="en-GB" sz="1700">
                <a:solidFill>
                  <a:schemeClr val="dk1"/>
                </a:solidFill>
              </a:rPr>
              <a:t>increases</a:t>
            </a:r>
            <a:r>
              <a:rPr lang="en-GB" sz="1700">
                <a:solidFill>
                  <a:schemeClr val="dk1"/>
                </a:solidFill>
              </a:rPr>
              <a:t> all prices by 20%, we need to update every file that lists the price of tickets.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In companies we have different kinds of employees; some know how to edit code, others are only familiar with data (e.g., SQL).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4A0E4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Data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35" name="Google Shape;135;p30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Data models and separation of concerns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36" name="Google Shape;136;p30"/>
          <p:cNvSpPr txBox="1"/>
          <p:nvPr/>
        </p:nvSpPr>
        <p:spPr>
          <a:xfrm>
            <a:off x="540000" y="1440000"/>
            <a:ext cx="5175000" cy="50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We need models.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Models are plain Dart classes defining the shape and properties of real-world entities.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Models roughly translate to SQL tables; they are essentially Python classes.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Models can introduce immutability with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</a:t>
            </a:r>
            <a:r>
              <a:rPr lang="en-GB" sz="1700">
                <a:solidFill>
                  <a:schemeClr val="dk1"/>
                </a:solidFill>
              </a:rPr>
              <a:t> fields (it prevents accidental modification across the app).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Or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-GB" sz="1700">
                <a:solidFill>
                  <a:schemeClr val="dk1"/>
                </a:solidFill>
              </a:rPr>
              <a:t> constructors enable compile-time constants and efficient widget rebuilds.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4A0E4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Data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42" name="Google Shape;142;p31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Separation of concerns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43" name="Google Shape;143;p31"/>
          <p:cNvSpPr txBox="1"/>
          <p:nvPr/>
        </p:nvSpPr>
        <p:spPr>
          <a:xfrm>
            <a:off x="540000" y="1440000"/>
            <a:ext cx="5175000" cy="50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Model: defines data</a:t>
            </a:r>
            <a:r>
              <a:rPr lang="en-GB" sz="1700">
                <a:solidFill>
                  <a:schemeClr val="dk1"/>
                </a:solidFill>
              </a:rPr>
              <a:t> structures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Repository: sits between the UI and data.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Views and widgets: present data, capture user input, ….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Having this separation, putting these </a:t>
            </a:r>
            <a:r>
              <a:rPr lang="en-GB" sz="1700">
                <a:solidFill>
                  <a:schemeClr val="dk1"/>
                </a:solidFill>
              </a:rPr>
              <a:t>boundaries</a:t>
            </a:r>
            <a:r>
              <a:rPr lang="en-GB" sz="1700">
                <a:solidFill>
                  <a:schemeClr val="dk1"/>
                </a:solidFill>
              </a:rPr>
              <a:t> means that switching from mock data to a database or cloud services does not break the UI.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See the diagrams here: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docs.flutter.dev/app-architecture/guide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2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FEF0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Repositories and assets</a:t>
            </a:r>
            <a:endParaRPr b="1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3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EF0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Repositories and assets</a:t>
            </a:r>
            <a:endParaRPr b="1" sz="2200"/>
          </a:p>
        </p:txBody>
      </p:sp>
      <p:sp>
        <p:nvSpPr>
          <p:cNvPr id="154" name="Google Shape;154;p33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Repositories</a:t>
            </a:r>
            <a:endParaRPr sz="2800"/>
          </a:p>
        </p:txBody>
      </p:sp>
      <p:sp>
        <p:nvSpPr>
          <p:cNvPr id="155" name="Google Shape;155;p33"/>
          <p:cNvSpPr txBox="1"/>
          <p:nvPr/>
        </p:nvSpPr>
        <p:spPr>
          <a:xfrm>
            <a:off x="540000" y="1440000"/>
            <a:ext cx="5175000" cy="48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 term “repository” here is different from a GitHub repository.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In Flutter, a repository abstracts data retrieval behind simple, testable methods.</a:t>
            </a:r>
            <a:endParaRPr sz="17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 </a:t>
            </a:r>
            <a:r>
              <a:rPr lang="en-GB" sz="1700">
                <a:solidFill>
                  <a:schemeClr val="dk1"/>
                </a:solidFill>
              </a:rPr>
              <a:t>repositories</a:t>
            </a:r>
            <a:r>
              <a:rPr lang="en-GB" sz="1700">
                <a:solidFill>
                  <a:schemeClr val="dk1"/>
                </a:solidFill>
              </a:rPr>
              <a:t> of  your app act as the single source of truth for application data.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They usually start with static mock lists; they can later swap to SQL databases or remote REST APIs to external services.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EF0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Repositories and assets</a:t>
            </a:r>
            <a:endParaRPr b="1" sz="2200"/>
          </a:p>
        </p:txBody>
      </p:sp>
      <p:sp>
        <p:nvSpPr>
          <p:cNvPr id="161" name="Google Shape;161;p34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Assets</a:t>
            </a:r>
            <a:endParaRPr sz="2800"/>
          </a:p>
        </p:txBody>
      </p:sp>
      <p:sp>
        <p:nvSpPr>
          <p:cNvPr id="162" name="Google Shape;162;p34"/>
          <p:cNvSpPr txBox="1"/>
          <p:nvPr/>
        </p:nvSpPr>
        <p:spPr>
          <a:xfrm>
            <a:off x="540000" y="1440000"/>
            <a:ext cx="5175000" cy="46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Static assets (images, vidoes, icons, fonts) are declared in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pubspec.yaml</a:t>
            </a:r>
            <a:r>
              <a:rPr lang="en-GB" sz="1700">
                <a:solidFill>
                  <a:schemeClr val="dk1"/>
                </a:solidFill>
              </a:rPr>
              <a:t> under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assets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They must be registered </a:t>
            </a:r>
            <a:r>
              <a:rPr lang="en-GB" sz="1700">
                <a:solidFill>
                  <a:schemeClr val="dk1"/>
                </a:solidFill>
              </a:rPr>
              <a:t>before</a:t>
            </a:r>
            <a:r>
              <a:rPr lang="en-GB" sz="1700">
                <a:solidFill>
                  <a:schemeClr val="dk1"/>
                </a:solidFill>
              </a:rPr>
              <a:t> they can be used.</a:t>
            </a:r>
            <a:endParaRPr sz="17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Image.asset</a:t>
            </a:r>
            <a:r>
              <a:rPr lang="en-GB" sz="1700">
                <a:solidFill>
                  <a:schemeClr val="dk1"/>
                </a:solidFill>
              </a:rPr>
              <a:t> loads bundled assets with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BoxFit.cover</a:t>
            </a:r>
            <a:r>
              <a:rPr lang="en-GB" sz="1700">
                <a:solidFill>
                  <a:schemeClr val="dk1"/>
                </a:solidFill>
              </a:rPr>
              <a:t> preventing distortion.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ListView.builder</a:t>
            </a:r>
            <a:r>
              <a:rPr lang="en-GB" sz="1700">
                <a:solidFill>
                  <a:schemeClr val="dk1"/>
                </a:solidFill>
              </a:rPr>
              <a:t> renders rows lazily on demand as they scroll into view.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More information on this is </a:t>
            </a:r>
            <a:r>
              <a:rPr lang="en-GB" sz="1700">
                <a:solidFill>
                  <a:schemeClr val="dk1"/>
                </a:solidFill>
              </a:rPr>
              <a:t>found</a:t>
            </a:r>
            <a:r>
              <a:rPr lang="en-GB" sz="1700">
                <a:solidFill>
                  <a:schemeClr val="dk1"/>
                </a:solidFill>
              </a:rPr>
              <a:t> on the worksheet.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5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1F293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In-page Navigation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"/>
          <p:cNvSpPr txBox="1"/>
          <p:nvPr/>
        </p:nvSpPr>
        <p:spPr>
          <a:xfrm>
            <a:off x="540000" y="1440000"/>
            <a:ext cx="5175000" cy="6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Navigation means moving between tabs.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can navigate using the index (e.g., URL to apps), or you can </a:t>
            </a:r>
            <a:r>
              <a:rPr lang="en-GB" sz="1700">
                <a:solidFill>
                  <a:schemeClr val="dk1"/>
                </a:solidFill>
              </a:rPr>
              <a:t>implement</a:t>
            </a:r>
            <a:r>
              <a:rPr lang="en-GB" sz="1700">
                <a:solidFill>
                  <a:schemeClr val="dk1"/>
                </a:solidFill>
              </a:rPr>
              <a:t> in-page navigation.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This </a:t>
            </a:r>
            <a:r>
              <a:rPr lang="en-GB" sz="1700">
                <a:solidFill>
                  <a:schemeClr val="dk1"/>
                </a:solidFill>
              </a:rPr>
              <a:t>method</a:t>
            </a:r>
            <a:r>
              <a:rPr lang="en-GB" sz="1700">
                <a:solidFill>
                  <a:schemeClr val="dk1"/>
                </a:solidFill>
              </a:rPr>
              <a:t> of navigation in Flutter is stack-based.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Stack like a stack of books or plates.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This type of navigation is managed by the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Navigator</a:t>
            </a:r>
            <a:r>
              <a:rPr lang="en-GB" sz="1700">
                <a:solidFill>
                  <a:schemeClr val="dk1"/>
                </a:solidFill>
              </a:rPr>
              <a:t> class.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Navigator.push()</a:t>
            </a:r>
            <a:r>
              <a:rPr lang="en-GB" sz="1700">
                <a:solidFill>
                  <a:schemeClr val="dk1"/>
                </a:solidFill>
              </a:rPr>
              <a:t> places a new route on top of the stack.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Navigator.pop()</a:t>
            </a:r>
            <a:r>
              <a:rPr lang="en-GB" sz="1700">
                <a:solidFill>
                  <a:schemeClr val="dk1"/>
                </a:solidFill>
              </a:rPr>
              <a:t> removes the top route, revealing the previous screen underneath.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MaterialPageRoute</a:t>
            </a:r>
            <a:r>
              <a:rPr lang="en-GB" sz="1700">
                <a:solidFill>
                  <a:schemeClr val="dk1"/>
                </a:solidFill>
              </a:rPr>
              <a:t> provides platform-appropriate transitions and automatic app bar back buttons.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73" name="Google Shape;173;p36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F293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In-page Navigation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74" name="Google Shape;174;p36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In-page navigation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Live coding</a:t>
            </a:r>
            <a:endParaRPr/>
          </a:p>
        </p:txBody>
      </p:sp>
      <p:sp>
        <p:nvSpPr>
          <p:cNvPr id="180" name="Google Shape;180;p37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Branches isolate work. Merging brings it together.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Conflict resolution (what happens when two branches edit the same line) will be covered in the next lecture.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Demo 2</a:t>
            </a:r>
            <a:endParaRPr/>
          </a:p>
        </p:txBody>
      </p:sp>
      <p:sp>
        <p:nvSpPr>
          <p:cNvPr id="186" name="Google Shape;186;p38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Union of Worksheet 3 and Worksheet 4 exercises: home view with movie cards and navigation to dynamic listing.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Also unit tests and widget tests covering almost all of your codebase.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Demonstrate in your own timetabled practical session.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can only do one demo in each window.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More information on the web page: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manighahrmani.github.io/sandwich_shop/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9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Module feedback</a:t>
            </a:r>
            <a:endParaRPr/>
          </a:p>
        </p:txBody>
      </p:sp>
      <p:sp>
        <p:nvSpPr>
          <p:cNvPr id="192" name="Google Shape;192;p39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Give us your feedback, comments, criticisms, or insults by filling out the following form.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It’s anonymous; you need to sign in via your student account, but your details aren’t recorded.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this link or the QR code: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forms.cloud.microsoft/e/88jd4UGAui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39" title="QRCode for Flutter Module Feedback Fo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638" y="4635875"/>
            <a:ext cx="3297776" cy="329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FF5733"/>
      </a:accent3>
      <a:accent4>
        <a:srgbClr val="34D1BF"/>
      </a:accent4>
      <a:accent5>
        <a:srgbClr val="F9E79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
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Homepage: https://manighahrmani.github.io/sandwich_shop/</a:t>
            </a:r>
          </a:p>
          <a:p>
            <a:r>
              <a:t>This half runs in Teaching Block 1 (TB1).</a:t>
            </a:r>
          </a:p>
          <a:p>
            <a:r>
              <a:t>'sandwich_shop' because the worksheets build a sandwich shop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Email: mani.ghahremani@port.ac.uk</a:t>
            </a:r>
          </a:p>
          <a:p>
            <a:r>
              <a:t>Discord for questions between sessions.</a:t>
            </a:r>
          </a:p>
          <a:p>
            <a:r>
              <a:t>Best help: attend your timetabled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worksheets, 10 teaching weeks (see schedule).</a:t>
            </a:r>
          </a:p>
          <a:p>
            <a:r>
              <a:t>Worksheet 1 this week (21-25/09/2026).</a:t>
            </a:r>
          </a:p>
          <a:p>
            <a:r>
              <a:t>Slides give the why; worksheets give the 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1 = 50% of the module; each demo = 25% of Item 1.</a:t>
            </a:r>
          </a:p>
          <a:p>
            <a:r>
              <a:t>Functionality 9%, quality 8%, understanding 8% (of Item 1).</a:t>
            </a:r>
          </a:p>
          <a:p>
            <a:r>
              <a:t>Full detail: Assessment Guide (last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1 window: complete by Friday 2 October 2026.</a:t>
            </a:r>
          </a:p>
          <a:p>
            <a:r>
              <a:t>Demos run in five windows across the term (see schedule).</a:t>
            </a:r>
          </a:p>
          <a:p>
            <a:r>
              <a:t>Miss one: no harm (best four count). Miss two: mark capped.</a:t>
            </a:r>
          </a:p>
          <a:p>
            <a:r>
              <a:t>Extenuating Circumstances: submit an ECF early, email me if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Submit the public repo link on Moodle, then demo live.</a:t>
            </a:r>
          </a:p>
          <a:p>
            <a:r>
              <a:t>No separate coursework upload for Item 1.</a:t>
            </a:r>
          </a:p>
          <a:p>
            <a:r>
              <a:t>The repo must be public so it can be marked.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 up: https://github.com/signup - use a personal email, not uni.</a:t>
            </a:r>
          </a:p>
          <a:p>
            <a:r>
              <a:t>GitHub Student Developer Pack: https://education.github.com/pack (needs student ID, on-campus or VPN).</a:t>
            </a:r>
          </a:p>
          <a:p>
            <a:r>
              <a:t>Own device: install Flutter. Uni machines: use the flutter_vscode_package bundle.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may use Copilot/AI, but you must be able to explain everything you submit.</a:t>
            </a:r>
          </a:p>
          <a:p>
            <a:r>
              <a:t>Understanding is 8% of Item 1 and is asked live.</a:t>
            </a:r>
          </a:p>
          <a:p>
            <a:r>
              <a:t>Early worksheets: learn by hand; automate once you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 (like Worksheet 1): create app, run in Chrome, commit, push to GitHub.</a:t>
            </a:r>
          </a:p>
          <a:p>
            <a:r>
              <a:t>Second device: use the device selector to switch Chrome -&gt; Edge and re-run.</a:t>
            </a:r>
          </a:p>
          <a:p>
            <a:r>
              <a:t>DevTools widget inspector: enable 'Select widget mode', click a widget in the running app, show it highlight in the widget tree, read its properties/constraints, spot padding/layout.</a:t>
            </a:r>
          </a:p>
          <a:p>
            <a:r>
              <a:t>Non-AI autocomplete: type an object then '.' to show the member dropdown; parameter hints and quick docs on hover.</a:t>
            </a:r>
          </a:p>
          <a:p>
            <a:r>
              <a:t>Pro tips: rename symbol (F2), quick fix / lightbulb (Cmd .), go-to-definition (F12), format-on-save, hot reload vs hot restart.</a:t>
            </a:r>
          </a:p>
          <a:p>
            <a:r>
              <a:t>Add your own tips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Rotate a student each week.</a:t>
            </a:r>
          </a:p>
          <a:p>
            <a:r>
              <a:t>Sources to seed it: Flutter blog https://medium.com/flutter, release notes https://docs.flutter.dev/release/release-notes, Hacker News https://news.ycombinator.com, GitHub Trending https://github.com/trending, The Changelog https://changelog.com, r/FlutterDev https://www.reddit.com/r/FlutterDev/, Widget of the Week https://www.youtube.com/playlist?list=PLjxrf2q8roU23XGwz3Km7sQZFTdB996iG.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Sites: Gradcracker https://www.gradcracker.com, RateMyPlacement https://www.ratemyplacement.co.uk, Prospects https://www.prospects.ac.uk, LinkedIn Jobs https://www.linkedin.com/jobs/, Indeed https://uk.indeed.com, Wellfound https://wellfound.com, Otta https://otta.com, MyPort https://myport.port.ac.uk.</a:t>
            </a:r>
          </a:p>
          <a:p>
            <a:r>
              <a:t>Filter terms: Flutter, Dart, mobile, cross-platform, front-end, 'placement', 'industrial year'.</a:t>
            </a:r>
          </a:p>
          <a:p>
            <a:r>
              <a:t>Showcase past students' LinkedIn/portfolios - get their consent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Worksheet 1: https://manighahrmani.github.io/sandwich_shop/worksheet-1.html</a:t>
            </a:r>
          </a:p>
          <a:p>
            <a:r>
              <a:t>Fork the Southsea Cinema starter: https://github.com/manighahrmani/southsea_cinema</a:t>
            </a:r>
          </a:p>
          <a:p>
            <a:r>
              <a:t>Prep for Demo 1 (by Fri 2 Oct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Homepage: https://manighahrmani.github.io/sandwich_shop/</a:t>
            </a:r>
          </a:p>
          <a:p>
            <a:r>
              <a:t>Assessment Guide: https://portdotacdotuk-my.sharepoint.com/:w:/g/personal/mani_ghahremani_port_ac_uk/IQC9nZoNwb2jT40MnFQPZWVvAVdTK2PGBmZ8jPff30RRyPc</a:t>
            </a:r>
          </a:p>
          <a:p>
            <a:r>
              <a:t>Discord and Moodle: links on the course homepage / module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Lecture 1 —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/>
            </a:pPr>
            <a:r>
              <a:t>• Flutter Course</a:t>
            </a:r>
          </a:p>
          <a:p>
            <a:pPr>
              <a:spcAft>
                <a:spcPts val="1400"/>
              </a:spcAft>
              <a:defRPr sz="2800"/>
            </a:pPr>
            <a:r>
              <a:t>• PAPL (M30235) / UXDI (M32605)</a:t>
            </a:r>
          </a:p>
          <a:p>
            <a:pPr>
              <a:spcAft>
                <a:spcPts val="1400"/>
              </a:spcAft>
              <a:defRPr sz="2800"/>
            </a:pPr>
            <a:r>
              <a:t>• Half the module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Who I 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/>
            </a:pPr>
            <a:r>
              <a:t>• Mani Ghahremani</a:t>
            </a:r>
          </a:p>
          <a:p>
            <a:pPr>
              <a:spcAft>
                <a:spcPts val="1400"/>
              </a:spcAft>
              <a:defRPr sz="2800"/>
            </a:pPr>
            <a:r>
              <a:t>• Email + Discord</a:t>
            </a:r>
          </a:p>
          <a:p>
            <a:pPr>
              <a:spcAft>
                <a:spcPts val="1400"/>
              </a:spcAft>
              <a:defRPr sz="2800"/>
            </a:pPr>
            <a:r>
              <a:t>• Ask in practicals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What we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/>
            </a:pPr>
            <a:r>
              <a:t>• One app, in stages</a:t>
            </a:r>
          </a:p>
          <a:p>
            <a:pPr>
              <a:spcAft>
                <a:spcPts val="1400"/>
              </a:spcAft>
              <a:defRPr sz="2800"/>
            </a:pPr>
            <a:r>
              <a:t>• Worksheets = practical</a:t>
            </a:r>
          </a:p>
          <a:p>
            <a:pPr>
              <a:spcAft>
                <a:spcPts val="1400"/>
              </a:spcAft>
              <a:defRPr sz="2800"/>
            </a:pPr>
            <a:r>
              <a:t>• Lectures = the why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How you're assessed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/>
            </a:pPr>
            <a:r>
              <a:t>• Item 1 = 50%</a:t>
            </a:r>
          </a:p>
          <a:p>
            <a:pPr>
              <a:spcAft>
                <a:spcPts val="1400"/>
              </a:spcAft>
              <a:defRPr sz="2800"/>
            </a:pPr>
            <a:r>
              <a:t>• Five demos, best four count</a:t>
            </a:r>
          </a:p>
          <a:p>
            <a:pPr>
              <a:spcAft>
                <a:spcPts val="1400"/>
              </a:spcAft>
              <a:defRPr sz="2800"/>
            </a:pPr>
            <a:r>
              <a:t>• Functionality, quality, understanding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The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/>
            </a:pPr>
            <a:r>
              <a:t>• Attend your slot</a:t>
            </a:r>
          </a:p>
          <a:p>
            <a:pPr>
              <a:spcAft>
                <a:spcPts val="1400"/>
              </a:spcAft>
              <a:defRPr sz="2800"/>
            </a:pPr>
            <a:r>
              <a:t>• One demo per window</a:t>
            </a:r>
          </a:p>
          <a:p>
            <a:pPr>
              <a:spcAft>
                <a:spcPts val="1400"/>
              </a:spcAft>
              <a:defRPr sz="2800"/>
            </a:pPr>
            <a:r>
              <a:t>• Miss it? Next window</a:t>
            </a:r>
          </a:p>
          <a:p>
            <a:pPr>
              <a:spcAft>
                <a:spcPts val="1400"/>
              </a:spcAft>
              <a:defRPr sz="2800"/>
            </a:pPr>
            <a:r>
              <a:t>• ECF if needed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What you submit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/>
            </a:pPr>
            <a:r>
              <a:t>• Public GitHub repo</a:t>
            </a:r>
          </a:p>
          <a:p>
            <a:pPr>
              <a:spcAft>
                <a:spcPts val="1400"/>
              </a:spcAft>
              <a:defRPr sz="2800"/>
            </a:pPr>
            <a:r>
              <a:t>• Link on Moodle</a:t>
            </a:r>
          </a:p>
          <a:p>
            <a:pPr>
              <a:spcAft>
                <a:spcPts val="1400"/>
              </a:spcAft>
              <a:defRPr sz="2800"/>
            </a:pPr>
            <a:r>
              <a:t>• Demo it live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Accounts to set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/>
            </a:pPr>
            <a:r>
              <a:t>• GitHub (personal email)</a:t>
            </a:r>
          </a:p>
          <a:p>
            <a:pPr>
              <a:spcAft>
                <a:spcPts val="1400"/>
              </a:spcAft>
              <a:defRPr sz="2800"/>
            </a:pPr>
            <a:r>
              <a:t>• GitHub Education -&gt; Copilot</a:t>
            </a:r>
          </a:p>
          <a:p>
            <a:pPr>
              <a:spcAft>
                <a:spcPts val="1400"/>
              </a:spcAft>
              <a:defRPr sz="2800"/>
            </a:pPr>
            <a:r>
              <a:t>• Uni machines or own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/>
            </a:pPr>
            <a:r>
              <a:t>• Allowed</a:t>
            </a:r>
          </a:p>
          <a:p>
            <a:pPr>
              <a:spcAft>
                <a:spcPts val="1400"/>
              </a:spcAft>
              <a:defRPr sz="2800"/>
            </a:pPr>
            <a:r>
              <a:t>• You must explain your code</a:t>
            </a:r>
          </a:p>
          <a:p>
            <a:pPr>
              <a:spcAft>
                <a:spcPts val="1400"/>
              </a:spcAft>
              <a:defRPr sz="2800"/>
            </a:pPr>
            <a:r>
              <a:t>• Learn first, automate later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Live: VS Code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/>
            </a:pPr>
            <a:r>
              <a:t>• New app, run, commit, push</a:t>
            </a:r>
          </a:p>
          <a:p>
            <a:pPr>
              <a:spcAft>
                <a:spcPts val="1400"/>
              </a:spcAft>
              <a:defRPr sz="2800"/>
            </a:pPr>
            <a:r>
              <a:t>• Run on a second device</a:t>
            </a:r>
          </a:p>
          <a:p>
            <a:pPr>
              <a:spcAft>
                <a:spcPts val="1400"/>
              </a:spcAft>
              <a:defRPr sz="2800"/>
            </a:pPr>
            <a:r>
              <a:t>• DevTools + widget tree</a:t>
            </a:r>
          </a:p>
          <a:p>
            <a:pPr>
              <a:spcAft>
                <a:spcPts val="1400"/>
              </a:spcAft>
              <a:defRPr sz="2800"/>
            </a:pPr>
            <a:r>
              <a:t>• Autocomplete (type a dot)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Something interesting in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/>
            </a:pPr>
            <a:r>
              <a:t>• One student shares</a:t>
            </a:r>
          </a:p>
          <a:p>
            <a:pPr>
              <a:spcAft>
                <a:spcPts val="1400"/>
              </a:spcAft>
              <a:defRPr sz="2800"/>
            </a:pPr>
            <a:r>
              <a:t>• Tool, news, or change</a:t>
            </a:r>
          </a:p>
          <a:p>
            <a:pPr>
              <a:spcAft>
                <a:spcPts val="1400"/>
              </a:spcAft>
              <a:defRPr sz="2800"/>
            </a:pPr>
            <a:r>
              <a:t>• 2 minutes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Placements &amp; careers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/>
            </a:pPr>
            <a:r>
              <a:t>• One placement each week</a:t>
            </a:r>
          </a:p>
          <a:p>
            <a:pPr>
              <a:spcAft>
                <a:spcPts val="1400"/>
              </a:spcAft>
              <a:defRPr sz="2800"/>
            </a:pPr>
            <a:r>
              <a:t>• Past students' portfolios</a:t>
            </a:r>
          </a:p>
          <a:p>
            <a:pPr>
              <a:spcAft>
                <a:spcPts val="1400"/>
              </a:spcAft>
              <a:defRPr sz="2800"/>
            </a:pPr>
            <a:r>
              <a:t>• Where to look (see notes)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/>
            </a:pPr>
            <a:r>
              <a:t>• Worksheet 1</a:t>
            </a:r>
          </a:p>
          <a:p>
            <a:pPr>
              <a:spcAft>
                <a:spcPts val="1400"/>
              </a:spcAft>
              <a:defRPr sz="2800"/>
            </a:pPr>
            <a:r>
              <a:t>• Fork Southsea Cinema</a:t>
            </a:r>
          </a:p>
          <a:p>
            <a:pPr>
              <a:spcAft>
                <a:spcPts val="1400"/>
              </a:spcAft>
              <a:defRPr sz="2800"/>
            </a:pPr>
            <a:r>
              <a:t>• Join Discord</a:t>
            </a:r>
          </a:p>
          <a:p>
            <a:pPr>
              <a:spcAft>
                <a:spcPts val="1400"/>
              </a:spcAft>
              <a:defRPr sz="2800"/>
            </a:pPr>
            <a:r>
              <a:t>• Sort GitHub Education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Bookmark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/>
            </a:pPr>
            <a:r>
              <a:t>• Course homepage</a:t>
            </a:r>
          </a:p>
          <a:p>
            <a:pPr>
              <a:spcAft>
                <a:spcPts val="1400"/>
              </a:spcAft>
              <a:defRPr sz="2800"/>
            </a:pPr>
            <a:r>
              <a:t>• Moodle</a:t>
            </a:r>
          </a:p>
          <a:p>
            <a:pPr>
              <a:spcAft>
                <a:spcPts val="1400"/>
              </a:spcAft>
              <a:defRPr sz="2800"/>
            </a:pPr>
            <a:r>
              <a:t>• Discord</a:t>
            </a:r>
          </a:p>
          <a:p>
            <a:pPr>
              <a:spcAft>
                <a:spcPts val="1400"/>
              </a:spcAft>
              <a:defRPr sz="2800"/>
            </a:pPr>
            <a:r>
              <a:t>• Assessment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